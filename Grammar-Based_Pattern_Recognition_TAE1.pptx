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660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sh-k10/Grammer_based_recognition_CM23042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11887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Grammar-Based
Pattern </a:t>
            </a:r>
            <a:r>
              <a:rPr lang="en-US" sz="4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54864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0175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parser that identifies patterns in real-world input by testing it against formal grammar rules — accepting what fits the structure, and extracting what matches.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033"/>
                </a:solidFill>
                <a:latin typeface="Arial" pitchFamily="34" charset="0"/>
                <a:cs typeface="Arial" pitchFamily="34" charset="-120"/>
              </a:rPr>
              <a:t>Yash Kapse (CM23042)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B3033"/>
                </a:solidFill>
                <a:latin typeface="Arial" pitchFamily="34" charset="0"/>
                <a:cs typeface="Arial" pitchFamily="34" charset="-120"/>
              </a:rPr>
              <a:t>CSE(AIML)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B3033"/>
                </a:solidFill>
                <a:latin typeface="Arial" pitchFamily="34" charset="0"/>
                <a:cs typeface="Arial" pitchFamily="34" charset="-120"/>
              </a:rPr>
              <a:t>7</a:t>
            </a:r>
            <a:r>
              <a:rPr lang="en-US" sz="1300" b="1" baseline="30000" dirty="0">
                <a:solidFill>
                  <a:srgbClr val="0B3033"/>
                </a:solidFill>
                <a:latin typeface="Arial" pitchFamily="34" charset="0"/>
                <a:cs typeface="Arial" pitchFamily="34" charset="-120"/>
              </a:rPr>
              <a:t>th</a:t>
            </a:r>
            <a:r>
              <a:rPr lang="en-US" sz="1300" b="1" dirty="0">
                <a:solidFill>
                  <a:srgbClr val="0B3033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0B3033"/>
                </a:solidFill>
                <a:latin typeface="Arial" pitchFamily="34" charset="0"/>
                <a:cs typeface="Arial" pitchFamily="34" charset="-120"/>
              </a:rPr>
              <a:t>sem</a:t>
            </a:r>
            <a:r>
              <a:rPr lang="en-US" sz="1300" b="1" dirty="0">
                <a:solidFill>
                  <a:srgbClr val="0B3033"/>
                </a:solidFill>
                <a:latin typeface="Arial" pitchFamily="34" charset="0"/>
                <a:cs typeface="Arial" pitchFamily="34" charset="-120"/>
              </a:rPr>
              <a:t>/ 4</a:t>
            </a:r>
            <a:r>
              <a:rPr lang="en-US" sz="1300" b="1" baseline="30000" dirty="0">
                <a:solidFill>
                  <a:srgbClr val="0B3033"/>
                </a:solidFill>
                <a:latin typeface="Arial" pitchFamily="34" charset="0"/>
                <a:cs typeface="Arial" pitchFamily="34" charset="-120"/>
              </a:rPr>
              <a:t>th</a:t>
            </a:r>
            <a:r>
              <a:rPr lang="en-US" sz="1300" b="1" dirty="0">
                <a:solidFill>
                  <a:srgbClr val="0B3033"/>
                </a:solidFill>
                <a:latin typeface="Arial" pitchFamily="34" charset="0"/>
                <a:cs typeface="Arial" pitchFamily="34" charset="-120"/>
              </a:rPr>
              <a:t> year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9692640" y="731520"/>
            <a:ext cx="914400" cy="274320"/>
          </a:xfrm>
          <a:prstGeom prst="line">
            <a:avLst/>
          </a:prstGeom>
          <a:noFill/>
          <a:ln w="15875">
            <a:solidFill>
              <a:srgbClr val="D7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731520"/>
            <a:ext cx="640080" cy="731520"/>
          </a:xfrm>
          <a:prstGeom prst="line">
            <a:avLst/>
          </a:prstGeom>
          <a:noFill/>
          <a:ln w="15875">
            <a:solidFill>
              <a:srgbClr val="D7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509760" y="1005840"/>
            <a:ext cx="182880" cy="822960"/>
          </a:xfrm>
          <a:prstGeom prst="line">
            <a:avLst/>
          </a:prstGeom>
          <a:noFill/>
          <a:ln w="15875">
            <a:solidFill>
              <a:srgbClr val="D7EA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1828800"/>
            <a:ext cx="822960" cy="182880"/>
          </a:xfrm>
          <a:prstGeom prst="line">
            <a:avLst/>
          </a:prstGeom>
          <a:noFill/>
          <a:ln w="15875">
            <a:solidFill>
              <a:srgbClr val="D7EA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332720" y="731520"/>
            <a:ext cx="274320" cy="1280160"/>
          </a:xfrm>
          <a:prstGeom prst="line">
            <a:avLst/>
          </a:prstGeom>
          <a:noFill/>
          <a:ln w="15875">
            <a:solidFill>
              <a:srgbClr val="D7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0" y="2011680"/>
            <a:ext cx="548640" cy="640080"/>
          </a:xfrm>
          <a:prstGeom prst="line">
            <a:avLst/>
          </a:prstGeom>
          <a:noFill/>
          <a:ln w="15875">
            <a:solidFill>
              <a:srgbClr val="D7E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9966960" y="2651760"/>
            <a:ext cx="914400" cy="457200"/>
          </a:xfrm>
          <a:prstGeom prst="line">
            <a:avLst/>
          </a:prstGeom>
          <a:noFill/>
          <a:ln w="15875">
            <a:solidFill>
              <a:srgbClr val="D7EA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2651760"/>
            <a:ext cx="457200" cy="640080"/>
          </a:xfrm>
          <a:prstGeom prst="line">
            <a:avLst/>
          </a:prstGeom>
          <a:noFill/>
          <a:ln w="15875">
            <a:solidFill>
              <a:srgbClr val="D7EA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47120" y="1463040"/>
            <a:ext cx="91440" cy="1828800"/>
          </a:xfrm>
          <a:prstGeom prst="line">
            <a:avLst/>
          </a:prstGeom>
          <a:noFill/>
          <a:ln w="15875">
            <a:solidFill>
              <a:srgbClr val="D7EA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9601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6858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01400" y="14173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7000" y="196596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9464040" y="178308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35640" y="26060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Shape 21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92840" y="32461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patterns — emails, dates, code syntax, sentences — aren't random strings; they follow structural rules. But plain keyword or regex matching breaks the moment structure gets nested, variable, or context-dependent.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0B3033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0" y="5669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09560" y="868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string actually</a:t>
            </a:r>
            <a:endParaRPr lang="en-US" sz="15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pattern?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4420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90956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hides in free-form text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58775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0" descr="/home/claude/icons_white/file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42" y="2667122"/>
            <a:ext cx="408188" cy="4081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4672" y="32918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notion of "valid"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" y="3776472"/>
            <a:ext cx="2889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grammar rules, there's no systematic way to accept or reject a pattern.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06240" y="233172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5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62272" y="258775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1" descr="/home/claude/icons_white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642" y="2667122"/>
            <a:ext cx="408188" cy="4081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62272" y="32918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matching breaks on nesting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462272" y="3776472"/>
            <a:ext cx="2889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and keyword search can't handle recursive or variable-depth structure.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863840" y="233172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5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19872" y="258775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2" descr="/home/claude/icons_white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242" y="2667122"/>
            <a:ext cx="408188" cy="4081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19872" y="329184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patterns follow implicit rules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119872" y="3776472"/>
            <a:ext cx="2889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patterns follow implicit rules that raw strings don't expose.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4709160"/>
            <a:ext cx="11109960" cy="594360"/>
          </a:xfrm>
          <a:prstGeom prst="roundRect">
            <a:avLst>
              <a:gd name="adj" fmla="val 15385"/>
            </a:avLst>
          </a:prstGeom>
          <a:solidFill>
            <a:srgbClr val="D7EAEA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" y="47091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100" dirty="0">
                <a:solidFill>
                  <a:srgbClr val="17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formal grammar rules so a parser can systematically accept, reject, and extract patterns — not just guess.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616952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GRAMMAR-BASED PATTERN RECOGNITION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&amp; Parser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52728" y="16002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icons_white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542" y="170901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527048"/>
            <a:ext cx="292608" cy="292608"/>
          </a:xfrm>
          <a:prstGeom prst="ellipse">
            <a:avLst/>
          </a:prstGeom>
          <a:solidFill>
            <a:srgbClr val="0B30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48256" y="1988820"/>
            <a:ext cx="1371600" cy="0"/>
          </a:xfrm>
          <a:prstGeom prst="line">
            <a:avLst/>
          </a:prstGeom>
          <a:noFill/>
          <a:ln w="19050">
            <a:solidFill>
              <a:srgbClr val="D8E5E5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48640" y="251460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Grammar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035808"/>
            <a:ext cx="20482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production rules (CFG / BNF) for the target pattern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38144" y="16002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_white/sciss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958" y="1709014"/>
            <a:ext cx="559613" cy="5596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22776" y="1527048"/>
            <a:ext cx="292608" cy="292608"/>
          </a:xfrm>
          <a:prstGeom prst="ellipse">
            <a:avLst/>
          </a:prstGeom>
          <a:solidFill>
            <a:srgbClr val="0B30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33672" y="1988820"/>
            <a:ext cx="1371600" cy="0"/>
          </a:xfrm>
          <a:prstGeom prst="line">
            <a:avLst/>
          </a:prstGeom>
          <a:noFill/>
          <a:ln w="19050">
            <a:solidFill>
              <a:srgbClr val="D8E5E5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2734056" y="251460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 Input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34056" y="3035808"/>
            <a:ext cx="20482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text split into terminal symbols the grammar understands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623560" y="16002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icons_white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374" y="1709014"/>
            <a:ext cx="559613" cy="55961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08192" y="1527048"/>
            <a:ext cx="292608" cy="292608"/>
          </a:xfrm>
          <a:prstGeom prst="ellipse">
            <a:avLst/>
          </a:prstGeom>
          <a:solidFill>
            <a:srgbClr val="0B30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19088" y="1988820"/>
            <a:ext cx="1371600" cy="0"/>
          </a:xfrm>
          <a:prstGeom prst="line">
            <a:avLst/>
          </a:prstGeom>
          <a:noFill/>
          <a:ln w="19050">
            <a:solidFill>
              <a:srgbClr val="D8E5E5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4919472" y="251460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Derive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919472" y="3035808"/>
            <a:ext cx="20482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 attempts a derivation using the grammar rules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808976" y="16002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icons_white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7790" y="1709014"/>
            <a:ext cx="559613" cy="5596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93608" y="1527048"/>
            <a:ext cx="292608" cy="292608"/>
          </a:xfrm>
          <a:prstGeom prst="ellipse">
            <a:avLst/>
          </a:prstGeom>
          <a:solidFill>
            <a:srgbClr val="0B30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604504" y="1988820"/>
            <a:ext cx="1371600" cy="0"/>
          </a:xfrm>
          <a:prstGeom prst="line">
            <a:avLst/>
          </a:prstGeom>
          <a:noFill/>
          <a:ln w="19050">
            <a:solidFill>
              <a:srgbClr val="D8E5E5"/>
            </a:solidFill>
            <a:prstDash val="dash"/>
          </a:ln>
        </p:spPr>
      </p:sp>
      <p:sp>
        <p:nvSpPr>
          <p:cNvPr id="26" name="Text 20"/>
          <p:cNvSpPr/>
          <p:nvPr/>
        </p:nvSpPr>
        <p:spPr>
          <a:xfrm>
            <a:off x="7104888" y="251460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/ Reject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104888" y="3035808"/>
            <a:ext cx="20482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accepted if a valid derivation exists, else rejected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994392" y="16002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9" name="Image 4" descr="/home/claude/icons_white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3206" y="1709014"/>
            <a:ext cx="559613" cy="55961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479024" y="1527048"/>
            <a:ext cx="292608" cy="292608"/>
          </a:xfrm>
          <a:prstGeom prst="ellipse">
            <a:avLst/>
          </a:prstGeom>
          <a:solidFill>
            <a:srgbClr val="0B303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9290304" y="251460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Parse Tree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290304" y="3035808"/>
            <a:ext cx="20482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structure returned with matched sub-patterns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48640" y="470916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0B3033"/>
          </a:solidFill>
          <a:ln/>
        </p:spPr>
      </p:sp>
      <p:sp>
        <p:nvSpPr>
          <p:cNvPr id="34" name="Shape 27"/>
          <p:cNvSpPr/>
          <p:nvPr/>
        </p:nvSpPr>
        <p:spPr>
          <a:xfrm>
            <a:off x="777240" y="486460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5" name="Image 5" descr="/home/claude/icons_white/bran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9" y="4935017"/>
            <a:ext cx="362102" cy="36210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463040" y="47091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logic:  </a:t>
            </a:r>
            <a:r>
              <a:rPr lang="en-US" sz="1100" dirty="0">
                <a:solidFill>
                  <a:srgbClr val="D7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rules are recursive by nature, so the parser naturally handles nested and variable-length patterns — something flat regex matching can never fully capture.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616952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GRAMMAR-BASED PATTERN RECOGNITION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Matching in 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PARSE TREE   (ILLUSTRATIVE)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063240" y="20574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0B3033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20574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80160" y="28346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346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83464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8E5E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8346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283464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834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D7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20240" y="361188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D7EAEA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36118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361188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7EAEA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36118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361188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7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6118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.tld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H="1">
            <a:off x="1801368" y="2441448"/>
            <a:ext cx="1901952" cy="393192"/>
          </a:xfrm>
          <a:prstGeom prst="line">
            <a:avLst/>
          </a:prstGeom>
          <a:noFill/>
          <a:ln w="19050">
            <a:solidFill>
              <a:srgbClr val="BFDA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2441448"/>
            <a:ext cx="9144" cy="393192"/>
          </a:xfrm>
          <a:prstGeom prst="line">
            <a:avLst/>
          </a:prstGeom>
          <a:noFill/>
          <a:ln w="19050">
            <a:solidFill>
              <a:srgbClr val="BFDA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2441448"/>
            <a:ext cx="1600200" cy="393192"/>
          </a:xfrm>
          <a:prstGeom prst="line">
            <a:avLst/>
          </a:prstGeom>
          <a:noFill/>
          <a:ln w="19050">
            <a:solidFill>
              <a:srgbClr val="BF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1325880" y="3218688"/>
            <a:ext cx="475488" cy="393192"/>
          </a:xfrm>
          <a:prstGeom prst="line">
            <a:avLst/>
          </a:prstGeom>
          <a:noFill/>
          <a:ln w="19050">
            <a:solidFill>
              <a:srgbClr val="BF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01368" y="3218688"/>
            <a:ext cx="576072" cy="393192"/>
          </a:xfrm>
          <a:prstGeom prst="line">
            <a:avLst/>
          </a:prstGeom>
          <a:noFill/>
          <a:ln w="19050">
            <a:solidFill>
              <a:srgbClr val="BF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03320" y="3218688"/>
            <a:ext cx="45720" cy="393192"/>
          </a:xfrm>
          <a:prstGeom prst="line">
            <a:avLst/>
          </a:prstGeom>
          <a:noFill/>
          <a:ln w="19050">
            <a:solidFill>
              <a:srgbClr val="BFDA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218688"/>
            <a:ext cx="9144" cy="393192"/>
          </a:xfrm>
          <a:prstGeom prst="line">
            <a:avLst/>
          </a:prstGeom>
          <a:noFill/>
          <a:ln w="19050">
            <a:solidFill>
              <a:srgbClr val="BF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r>
              <a:rPr lang="en-US" sz="1200" b="1" dirty="0">
                <a:solidFill>
                  <a:srgbClr val="0B3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“yashk@gmail.com"</a:t>
            </a:r>
            <a:r>
              <a:rPr lang="en-US" sz="120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8920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derivation means the parse tree can be built end-to-end — an invalid pattern simply has no tree.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86600" y="141732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0B3033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15544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315200" y="21305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patterns correctly accepted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86600" y="283464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0B3033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315200" y="3547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production rules defined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86600" y="425196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0B30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4389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315200" y="4965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time with LL(1) grammar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616952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5C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GRAMMAR-BASED PATTERN RECOGNITION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17220"/>
            <a:ext cx="1109472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3033"/>
                </a:solidFill>
                <a:latin typeface="Arial"/>
              </a:defRPr>
            </a:pPr>
            <a:r>
              <a:t>3-Phase Engineering Progression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72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C7A7D"/>
                </a:solidFill>
                <a:latin typeface="Arial"/>
              </a:defRPr>
            </a:pPr>
            <a:r>
              <a:t>Systematic delivery from formal CFG grammars and LL(1) parsing core to validation pipelines, empirical benchmarks, and web studio.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2" y="6537960"/>
            <a:ext cx="41148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5C7A7D"/>
                </a:solidFill>
                <a:latin typeface="Arial"/>
              </a:defRPr>
            </a:pPr>
            <a:r>
              <a:t>GRAMMAR-BASED PATTERN RECOGNITION • CM23042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80000"/>
            <a:ext cx="3460000" cy="47800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640" y="1770000"/>
            <a:ext cx="3020000" cy="39241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28090"/>
                </a:solidFill>
                <a:latin typeface="Arial"/>
              </a:rPr>
              <a:t>PHASE 1  •  Week 1
</a:t>
            </a:r>
            <a:r>
              <a:rPr sz="1000" b="1" dirty="0">
                <a:solidFill>
                  <a:srgbClr val="007A6E"/>
                </a:solidFill>
                <a:latin typeface="Arial"/>
              </a:rPr>
              <a:t>[COMPLETED (100%)]
</a:t>
            </a:r>
          </a:p>
          <a:p>
            <a:pPr>
              <a:spcBef>
                <a:spcPts val="4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Core Engine &amp; Formal CFG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Formal grammar specification, position-aware tokenizer, and LL(1) recursive-descent parser core.
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DELIVERABLES &amp; MODULES: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grammar/</a:t>
            </a:r>
            <a:r>
              <a:rPr sz="1000" b="1" dirty="0" err="1">
                <a:solidFill>
                  <a:srgbClr val="0B3033"/>
                </a:solidFill>
                <a:latin typeface="Arial"/>
              </a:rPr>
              <a:t>email.cfg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: </a:t>
            </a:r>
            <a:r>
              <a:rPr sz="1000" dirty="0">
                <a:solidFill>
                  <a:srgbClr val="5C7A7D"/>
                </a:solidFill>
                <a:latin typeface="Arial"/>
              </a:rPr>
              <a:t>BNF production rules for RFC email patterns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lexer.py: </a:t>
            </a:r>
            <a:r>
              <a:rPr sz="1000" dirty="0">
                <a:solidFill>
                  <a:srgbClr val="5C7A7D"/>
                </a:solidFill>
                <a:latin typeface="Arial"/>
              </a:rPr>
              <a:t>Position-aware tokenizer with offset indexing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parser.py: </a:t>
            </a:r>
            <a:r>
              <a:rPr sz="1000" dirty="0">
                <a:solidFill>
                  <a:srgbClr val="5C7A7D"/>
                </a:solidFill>
                <a:latin typeface="Arial"/>
              </a:rPr>
              <a:t>LL(1) recursive-descent predictive parsing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Abstract Trees: </a:t>
            </a:r>
            <a:r>
              <a:rPr sz="1000" dirty="0">
                <a:solidFill>
                  <a:srgbClr val="5C7A7D"/>
                </a:solidFill>
                <a:latin typeface="Arial"/>
              </a:rPr>
              <a:t>Explicit 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ParseTreeNode</a:t>
            </a:r>
            <a:r>
              <a:rPr sz="1000" dirty="0">
                <a:solidFill>
                  <a:srgbClr val="5C7A7D"/>
                </a:solidFill>
                <a:latin typeface="Arial"/>
              </a:rPr>
              <a:t> hierarchy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Deterministic: </a:t>
            </a:r>
            <a:r>
              <a:rPr sz="1000" dirty="0">
                <a:solidFill>
                  <a:srgbClr val="5C7A7D"/>
                </a:solidFill>
                <a:latin typeface="Arial"/>
              </a:rPr>
              <a:t>Zero backtracking &amp; fast linear scan</a:t>
            </a:r>
          </a:p>
          <a:p>
            <a:pPr>
              <a:spcBef>
                <a:spcPts val="14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Phase 1 Test Suite
</a:t>
            </a:r>
            <a:r>
              <a:rPr sz="1000" b="1" dirty="0">
                <a:solidFill>
                  <a:srgbClr val="028090"/>
                </a:solidFill>
                <a:latin typeface="Arial"/>
              </a:rPr>
              <a:t>10/10 Passed (100%)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40" y="1580000"/>
            <a:ext cx="3460000" cy="478000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9050">
            <a:solidFill>
              <a:srgbClr val="00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8640" y="1770000"/>
            <a:ext cx="3020000" cy="4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09B8A"/>
                </a:solidFill>
                <a:latin typeface="Arial"/>
              </a:rPr>
              <a:t>PHASE 2  •  Weeks 2–3
</a:t>
            </a:r>
            <a:r>
              <a:rPr sz="1000" b="1" dirty="0">
                <a:solidFill>
                  <a:srgbClr val="007A6E"/>
                </a:solidFill>
                <a:latin typeface="Arial"/>
              </a:rPr>
              <a:t>[COMPLETED (100%)]
</a:t>
            </a:r>
          </a:p>
          <a:p>
            <a:pPr>
              <a:spcBef>
                <a:spcPts val="4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Validation Engine &amp; Visualizer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Verdict classifier, sub-pattern semantic extraction, multi-engine tree rendering, and unified CLI.
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DELIVERABLES &amp; MODULES: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09B8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validator.py: </a:t>
            </a:r>
            <a:r>
              <a:rPr sz="1000" dirty="0">
                <a:solidFill>
                  <a:srgbClr val="5C7A7D"/>
                </a:solidFill>
                <a:latin typeface="Arial"/>
              </a:rPr>
              <a:t>ACCEPT/REJECT verdict engine &amp; error codes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09B8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Sub-Patterns: </a:t>
            </a:r>
            <a:r>
              <a:rPr sz="1000" dirty="0">
                <a:solidFill>
                  <a:srgbClr val="5C7A7D"/>
                </a:solidFill>
                <a:latin typeface="Arial"/>
              </a:rPr>
              <a:t>Semantic extraction (domain, user, 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tld</a:t>
            </a:r>
            <a:r>
              <a:rPr sz="1000" dirty="0">
                <a:solidFill>
                  <a:srgbClr val="5C7A7D"/>
                </a:solidFill>
                <a:latin typeface="Arial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09B8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visualize.py: </a:t>
            </a:r>
            <a:r>
              <a:rPr sz="1000" dirty="0">
                <a:solidFill>
                  <a:srgbClr val="5C7A7D"/>
                </a:solidFill>
                <a:latin typeface="Arial"/>
              </a:rPr>
              <a:t>Standalone SVG, DOT &amp; ASCII tree outputs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09B8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Unified CLI: </a:t>
            </a:r>
            <a:r>
              <a:rPr sz="1000" dirty="0">
                <a:solidFill>
                  <a:srgbClr val="5C7A7D"/>
                </a:solidFill>
                <a:latin typeface="Arial"/>
              </a:rPr>
              <a:t>Interactive REPL, single, and batch modes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009B8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Diagnostics: </a:t>
            </a:r>
            <a:r>
              <a:rPr sz="1000" dirty="0">
                <a:solidFill>
                  <a:srgbClr val="5C7A7D"/>
                </a:solidFill>
                <a:latin typeface="Arial"/>
              </a:rPr>
              <a:t>Precise character offsets &amp; syntax errors</a:t>
            </a:r>
          </a:p>
          <a:p>
            <a:pPr>
              <a:spcBef>
                <a:spcPts val="14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Phase 2 Test Suite
</a:t>
            </a:r>
            <a:r>
              <a:rPr sz="1000" b="1" dirty="0">
                <a:solidFill>
                  <a:srgbClr val="009B8A"/>
                </a:solidFill>
                <a:latin typeface="Arial"/>
              </a:rPr>
              <a:t>19/19 Passed (100%)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640" y="1580000"/>
            <a:ext cx="3460000" cy="4780000"/>
          </a:xfrm>
          <a:prstGeom prst="roundRect">
            <a:avLst>
              <a:gd name="adj" fmla="val 7768"/>
            </a:avLst>
          </a:prstGeom>
          <a:solidFill>
            <a:srgbClr val="FFFFFF"/>
          </a:solidFill>
          <a:ln w="19050">
            <a:solidFill>
              <a:srgbClr val="F06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08640" y="1770000"/>
            <a:ext cx="3020000" cy="4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F0642F"/>
                </a:solidFill>
                <a:latin typeface="Arial"/>
              </a:rPr>
              <a:t>PHASE 3  •  Week 4
</a:t>
            </a:r>
            <a:r>
              <a:rPr sz="1000" b="1" dirty="0">
                <a:solidFill>
                  <a:srgbClr val="007A6E"/>
                </a:solidFill>
                <a:latin typeface="Arial"/>
              </a:rPr>
              <a:t>[COMPLETED (100%)]
</a:t>
            </a:r>
          </a:p>
          <a:p>
            <a:pPr>
              <a:spcBef>
                <a:spcPts val="4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QA, Benchmarks &amp; Studio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Empirical O(n) linear performance proof, date grammar extensibility, and automated master test suite.
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DELIVERABLES &amp; MODULES: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F0642F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benchmark.py: </a:t>
            </a:r>
            <a:r>
              <a:rPr sz="1000" dirty="0">
                <a:solidFill>
                  <a:srgbClr val="5C7A7D"/>
                </a:solidFill>
                <a:latin typeface="Arial"/>
              </a:rPr>
              <a:t>O(n) empirical latency test up to 5,000 chars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F0642F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grammar/</a:t>
            </a:r>
            <a:r>
              <a:rPr sz="1000" b="1" dirty="0" err="1">
                <a:solidFill>
                  <a:srgbClr val="0B3033"/>
                </a:solidFill>
                <a:latin typeface="Arial"/>
              </a:rPr>
              <a:t>date.cfg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: </a:t>
            </a:r>
            <a:r>
              <a:rPr sz="1000" dirty="0">
                <a:solidFill>
                  <a:srgbClr val="5C7A7D"/>
                </a:solidFill>
                <a:latin typeface="Arial"/>
              </a:rPr>
              <a:t>Grammar extensibility for calendar dates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F0642F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tests/ Suite: </a:t>
            </a:r>
            <a:r>
              <a:rPr sz="1000" dirty="0">
                <a:solidFill>
                  <a:srgbClr val="5C7A7D"/>
                </a:solidFill>
                <a:latin typeface="Arial"/>
              </a:rPr>
              <a:t>39 unit tests across 5 engine modules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F0642F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Web UI Studio: </a:t>
            </a:r>
            <a:r>
              <a:rPr sz="1000" dirty="0">
                <a:solidFill>
                  <a:srgbClr val="5C7A7D"/>
                </a:solidFill>
                <a:latin typeface="Arial"/>
              </a:rPr>
              <a:t>Interactive Flask web app &amp; SVG visualizer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F0642F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Regression: </a:t>
            </a:r>
            <a:r>
              <a:rPr sz="1000" dirty="0">
                <a:solidFill>
                  <a:srgbClr val="5C7A7D"/>
                </a:solidFill>
                <a:latin typeface="Arial"/>
              </a:rPr>
              <a:t>R² = 0.874–0.991 linear complexity proof</a:t>
            </a:r>
          </a:p>
          <a:p>
            <a:pPr>
              <a:spcBef>
                <a:spcPts val="14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Master QA Suite &amp; Complexity
</a:t>
            </a:r>
            <a:r>
              <a:rPr sz="1000" b="1" dirty="0">
                <a:solidFill>
                  <a:srgbClr val="F0642F"/>
                </a:solidFill>
                <a:latin typeface="Arial"/>
              </a:rPr>
              <a:t>39/39 Passed • O(n)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17220"/>
            <a:ext cx="1109472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3033"/>
                </a:solidFill>
                <a:latin typeface="Arial"/>
              </a:defRPr>
            </a:pPr>
            <a:r>
              <a:t>Core CFG Grammar Engine, Lexical Pipeline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72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C7A7D"/>
                </a:solidFill>
                <a:latin typeface="Arial"/>
              </a:defRPr>
            </a:pPr>
            <a:r>
              <a:t>Strict separation of lexical tokenization, predictive LL(1) derivation, structured validation, and visual rendering.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2" y="6537960"/>
            <a:ext cx="41148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5C7A7D"/>
                </a:solidFill>
                <a:latin typeface="Arial"/>
              </a:defRPr>
            </a:pPr>
            <a:r>
              <a:t>GRAMMAR-BASED PATTERN RECOGNITION • CM23042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80000"/>
            <a:ext cx="5360000" cy="4780000"/>
          </a:xfrm>
          <a:prstGeom prst="roundRect">
            <a:avLst>
              <a:gd name="adj" fmla="val 4955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8640" y="1780000"/>
            <a:ext cx="4880000" cy="4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28090"/>
                </a:solidFill>
                <a:latin typeface="Arial"/>
              </a:rPr>
              <a:t>PHASE 1: FORMAL CFG &amp; RECURSIVE-DESCENT PARSER
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✔ Context-Free Grammar Definition (BNF)
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Formal rules defined in grammar/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email.cfg</a:t>
            </a:r>
            <a:r>
              <a:rPr sz="1000" dirty="0">
                <a:solidFill>
                  <a:srgbClr val="5C7A7D"/>
                </a:solidFill>
                <a:latin typeface="Arial"/>
              </a:rPr>
              <a:t>: &lt;EMAIL&gt; ::= &lt;LOCAL&gt; '@' &lt;DOMAIN&gt; '.' &lt;TLD&gt;. Handles nested subdomains, user tags (+tag), and recursive words cleanly where flat regex matching fails.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✔ Position-Aware Tokenizer (lexer.py)
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Scans raw character streams into structured terminal tokens (WORD, AT, DOT, TLD, HYPHEN, PLUS, DIGIT). Tracks exact character index offsets (@0, @9, etc.) for micro-diagnostic error reporting.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✔ Predictive LL(1) Parsing Engine (parser.py)
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Deterministic top-down recursive descent with 1-token lookahead. Eliminates catastrophic exponential backtracking (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ReDoS</a:t>
            </a:r>
            <a:r>
              <a:rPr sz="1000" dirty="0">
                <a:solidFill>
                  <a:srgbClr val="5C7A7D"/>
                </a:solidFill>
                <a:latin typeface="Arial"/>
              </a:rPr>
              <a:t>) and constructs explicit Abstract Syntax Trees (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ParseTreeNode</a:t>
            </a:r>
            <a:r>
              <a:rPr sz="1000" dirty="0">
                <a:solidFill>
                  <a:srgbClr val="5C7A7D"/>
                </a:solidFill>
                <a:latin typeface="Arial"/>
              </a:rPr>
              <a:t>).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✔ Pinpoint Syntax Diagnostics
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Pinpoints the exact character offset of malformed syntax (e.g. unexpected character, missing '@', or unclosed TLD) with expected vs. encountered terminal token comparisons.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640" y="1580000"/>
            <a:ext cx="5360000" cy="4780000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9050">
            <a:solidFill>
              <a:srgbClr val="00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8640" y="1780000"/>
            <a:ext cx="4880000" cy="4437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09B8A"/>
                </a:solidFill>
                <a:latin typeface="Arial"/>
              </a:rPr>
              <a:t>PHASE 2: VALIDATION ENGINE &amp; MULTI-FORMAT VISUALIZER
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✔ Verdict Classifier Engine (validator.py)
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High-level interface providing ACCEPTED / REJECTED verdicts. Encapsulates token stream, error taxonomy (DERIVATION_SYNTAX_ERROR, LEXICAL_ERROR), and structured JSON output payload.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✔ Semantic Sub-Pattern Extractor
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Automatically traverses the generated parse tree to extract semantic components: 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local_part</a:t>
            </a:r>
            <a:r>
              <a:rPr sz="1000" dirty="0">
                <a:solidFill>
                  <a:srgbClr val="5C7A7D"/>
                </a:solidFill>
                <a:latin typeface="Arial"/>
              </a:rPr>
              <a:t>, domain, 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tld</a:t>
            </a:r>
            <a:r>
              <a:rPr sz="1000" dirty="0">
                <a:solidFill>
                  <a:srgbClr val="5C7A7D"/>
                </a:solidFill>
                <a:latin typeface="Arial"/>
              </a:rPr>
              <a:t>, subdomains, and user tags (+tag) without secondary regex parsing.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✔ Triple-Format Parse Tree Visualizer (visualize.py)
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1) Pure-Python Vector SVG: Interactive graphics with color-coded nodes (Root, Non-Terminals, Terminals).
2) 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Graphviz</a:t>
            </a:r>
            <a:r>
              <a:rPr sz="1000" dirty="0">
                <a:solidFill>
                  <a:srgbClr val="5C7A7D"/>
                </a:solidFill>
                <a:latin typeface="Arial"/>
              </a:rPr>
              <a:t> DOT: Industrial standard graph description for system integration.
3) Unicode ASCII Tree: Lightweight monospace tree for instant console terminal display.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✔ Unified Command-Line Pipeline
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Supports single pattern evaluation (--input), batch file evaluation (samples.txt), and an interactive REPL for live pattern debugging with instant tree exports.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17220"/>
            <a:ext cx="1109472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3033"/>
                </a:solidFill>
                <a:latin typeface="Arial"/>
              </a:defRPr>
            </a:pPr>
            <a:r>
              <a:t>Interactive Web Application &amp; Studio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72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C7A7D"/>
                </a:solidFill>
                <a:latin typeface="Arial"/>
              </a:defRPr>
            </a:pPr>
            <a:r>
              <a:t>Modern browser-based studio providing real-time visual parsing, interactive AST exploration, batch processing, and live benchmarks.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2" y="6537960"/>
            <a:ext cx="41148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5C7A7D"/>
                </a:solidFill>
                <a:latin typeface="Arial"/>
              </a:defRPr>
            </a:pPr>
            <a:r>
              <a:t>GRAMMAR-BASED PATTERN RECOGNITION • CM23042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80000"/>
            <a:ext cx="2650000" cy="47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6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8640" y="1770000"/>
            <a:ext cx="2290000" cy="3667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F0642F"/>
                </a:solidFill>
                <a:latin typeface="Arial"/>
              </a:rPr>
              <a:t>STUDIO MODULE 1
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Pattern Parser Playground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Real-time interactive grammar derivation studio.
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F0642F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Dual Grammar Switcher
</a:t>
            </a:r>
            <a:r>
              <a:rPr sz="1000" dirty="0">
                <a:solidFill>
                  <a:srgbClr val="5C7A7D"/>
                </a:solidFill>
                <a:latin typeface="Arial"/>
              </a:rPr>
              <a:t>Instant toggle between Email CFG and Date CFG models.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F0642F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Preset Test Cases
</a:t>
            </a:r>
            <a:r>
              <a:rPr sz="1000" dirty="0">
                <a:solidFill>
                  <a:srgbClr val="5C7A7D"/>
                </a:solidFill>
                <a:latin typeface="Arial"/>
              </a:rPr>
              <a:t>Quick-test pills for standard, subdomains, plus-tags, and error cases.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F0642F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Live Lexer Stream
</a:t>
            </a:r>
            <a:r>
              <a:rPr sz="1000" dirty="0">
                <a:solidFill>
                  <a:srgbClr val="5C7A7D"/>
                </a:solidFill>
                <a:latin typeface="Arial"/>
              </a:rPr>
              <a:t>Interactive chips showing terminal types and character position offsets.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F0642F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Reactive UI
</a:t>
            </a:r>
            <a:r>
              <a:rPr sz="1000" dirty="0">
                <a:solidFill>
                  <a:srgbClr val="5C7A7D"/>
                </a:solidFill>
                <a:latin typeface="Arial"/>
              </a:rPr>
              <a:t>Under 5ms parse response time with zero page refresh.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8640" y="1580000"/>
            <a:ext cx="2650000" cy="47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8640" y="1770000"/>
            <a:ext cx="2290000" cy="3667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28090"/>
                </a:solidFill>
                <a:latin typeface="Arial"/>
              </a:rPr>
              <a:t>STUDIO MODULE 2
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Dynamic SVG Parse Tree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Live Abstract Syntax Tree visualization in the browser.
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Vector SVG Engine
</a:t>
            </a:r>
            <a:r>
              <a:rPr sz="1000" dirty="0">
                <a:solidFill>
                  <a:srgbClr val="5C7A7D"/>
                </a:solidFill>
                <a:latin typeface="Arial"/>
              </a:rPr>
              <a:t>Crisp, scalable vector tree graph embedded directly in DOM.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Color-Coded Hierarchy
</a:t>
            </a:r>
            <a:r>
              <a:rPr sz="1000" dirty="0">
                <a:solidFill>
                  <a:srgbClr val="5C7A7D"/>
                </a:solidFill>
                <a:latin typeface="Arial"/>
              </a:rPr>
              <a:t>Orange root symbol, Blue non-terminals, Emerald terminal symbols.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Monospace ASCII View
</a:t>
            </a:r>
            <a:r>
              <a:rPr sz="1000" dirty="0">
                <a:solidFill>
                  <a:srgbClr val="5C7A7D"/>
                </a:solidFill>
                <a:latin typeface="Arial"/>
              </a:rPr>
              <a:t>Instant tab switcher to view console-style Unicode tree.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Sub-Pattern Cards
</a:t>
            </a:r>
            <a:r>
              <a:rPr sz="1000" dirty="0">
                <a:solidFill>
                  <a:srgbClr val="5C7A7D"/>
                </a:solidFill>
                <a:latin typeface="Arial"/>
              </a:rPr>
              <a:t>Structured cards for domain, username, TLD, and full 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8640" y="1580000"/>
            <a:ext cx="2650000" cy="47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8640" y="1770000"/>
            <a:ext cx="2290000" cy="3667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09B8A"/>
                </a:solidFill>
                <a:latin typeface="Arial"/>
              </a:rPr>
              <a:t>STUDIO MODULE 3
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Batch Testing Matrix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High-throughput evaluation of multi-pattern datasets.
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009B8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Multi-Line Input
</a:t>
            </a:r>
            <a:r>
              <a:rPr sz="1000" dirty="0">
                <a:solidFill>
                  <a:srgbClr val="5C7A7D"/>
                </a:solidFill>
                <a:latin typeface="Arial"/>
              </a:rPr>
              <a:t>Paste or load sample pattern sets (e.g. samples.txt).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009B8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Instant Pass/Fail Matrix
</a:t>
            </a:r>
            <a:r>
              <a:rPr sz="1000" dirty="0">
                <a:solidFill>
                  <a:srgbClr val="5C7A7D"/>
                </a:solidFill>
                <a:latin typeface="Arial"/>
              </a:rPr>
              <a:t>ACCEPTED and REJECTED badges with reason diagnostics.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009B8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Aggregate Analytics
</a:t>
            </a:r>
            <a:r>
              <a:rPr sz="1000" dirty="0">
                <a:solidFill>
                  <a:srgbClr val="5C7A7D"/>
                </a:solidFill>
                <a:latin typeface="Arial"/>
              </a:rPr>
              <a:t>Pass rate percentage, total evaluated, and average latency.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009B8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Export Support
</a:t>
            </a:r>
            <a:r>
              <a:rPr sz="1000" dirty="0">
                <a:solidFill>
                  <a:srgbClr val="5C7A7D"/>
                </a:solidFill>
                <a:latin typeface="Arial"/>
              </a:rPr>
              <a:t>Download structured batch evaluation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28640" y="1580000"/>
            <a:ext cx="2650000" cy="47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08640" y="1770000"/>
            <a:ext cx="2290000" cy="3667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3B6E72"/>
                </a:solidFill>
                <a:latin typeface="Arial"/>
              </a:rPr>
              <a:t>STUDIO MODULE 4
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0B3033"/>
                </a:solidFill>
                <a:latin typeface="Arial"/>
              </a:rPr>
              <a:t>Live Benchmarks Dashboard
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5C7A7D"/>
                </a:solidFill>
                <a:latin typeface="Arial"/>
              </a:rPr>
              <a:t>In-browser empirical performance benchmarking suite.
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3B6E72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Interactive Plot
</a:t>
            </a:r>
            <a:r>
              <a:rPr sz="1000" dirty="0">
                <a:solidFill>
                  <a:srgbClr val="5C7A7D"/>
                </a:solidFill>
                <a:latin typeface="Arial"/>
              </a:rPr>
              <a:t>SVG Latency vs. Input Scale chart across 9 input lengths.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3B6E72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Regression Metrics
</a:t>
            </a:r>
            <a:r>
              <a:rPr sz="1000" dirty="0">
                <a:solidFill>
                  <a:srgbClr val="5C7A7D"/>
                </a:solidFill>
                <a:latin typeface="Arial"/>
              </a:rPr>
              <a:t>Live display of R², Pearson r, and processing slope.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3B6E72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Complexity Verdict
</a:t>
            </a:r>
            <a:r>
              <a:rPr sz="1000" dirty="0">
                <a:solidFill>
                  <a:srgbClr val="5C7A7D"/>
                </a:solidFill>
                <a:latin typeface="Arial"/>
              </a:rPr>
              <a:t>Empirical confirmation card proving strict O(n) scaling.</a:t>
            </a:r>
          </a:p>
          <a:p>
            <a:pPr>
              <a:spcBef>
                <a:spcPts val="600"/>
              </a:spcBef>
            </a:pPr>
            <a:r>
              <a:rPr sz="1000" dirty="0">
                <a:solidFill>
                  <a:srgbClr val="3B6E72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One-Click Execution
</a:t>
            </a:r>
            <a:r>
              <a:rPr sz="1000" dirty="0">
                <a:solidFill>
                  <a:srgbClr val="5C7A7D"/>
                </a:solidFill>
                <a:latin typeface="Arial"/>
              </a:rPr>
              <a:t>Re-run live benchmarks directly in the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17220"/>
            <a:ext cx="1109472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3033"/>
                </a:solidFill>
                <a:latin typeface="Arial"/>
              </a:defRPr>
            </a:pPr>
            <a:r>
              <a:t>Pattern Parser Studio &amp; Real-Time Derivation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72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C7A7D"/>
                </a:solidFill>
                <a:latin typeface="Arial"/>
              </a:defRPr>
            </a:pPr>
            <a:r>
              <a:t>Live web application execution displaying interactive CFG derivation, lexical tokenization stream, and semantic sub-pattern extraction.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2" y="6537960"/>
            <a:ext cx="41148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5C7A7D"/>
                </a:solidFill>
                <a:latin typeface="Arial"/>
              </a:defRPr>
            </a:pPr>
            <a:r>
              <a:t>GRAMMAR-BASED PATTERN RECOGNITION • CM23042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80000"/>
            <a:ext cx="5400000" cy="4780000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8640" y="1700000"/>
            <a:ext cx="504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28090"/>
                </a:solidFill>
                <a:latin typeface="Arial"/>
              </a:rPr>
              <a:t>PATTERN PARSER STUDIO: LIVE DERIVATION TREE (SVG)
</a:t>
            </a:r>
            <a:r>
              <a:rPr sz="1000" dirty="0">
                <a:solidFill>
                  <a:srgbClr val="5C7A7D"/>
                </a:solidFill>
                <a:latin typeface="Arial"/>
              </a:rPr>
              <a:t>Input: dhanshree01@gmail.com  •  Root EMAIL → LOCAL, AT, DOMAIN, DOT, TLD</a:t>
            </a:r>
          </a:p>
        </p:txBody>
      </p:sp>
      <p:pic>
        <p:nvPicPr>
          <p:cNvPr id="9" name="Picture 8" descr="app_playground_parsetre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0" y="2230000"/>
            <a:ext cx="5040000" cy="22296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8640" y="4580000"/>
            <a:ext cx="5040000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sz="1000" dirty="0"/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Vector SVG Tree: </a:t>
            </a:r>
            <a:r>
              <a:rPr sz="1000" dirty="0">
                <a:solidFill>
                  <a:srgbClr val="5C7A7D"/>
                </a:solidFill>
                <a:latin typeface="Arial"/>
              </a:rPr>
              <a:t>Dynamically renders hierarchical AST nodes with color-coded classification: Root (Purple), Non-Terminals (Blue), Terminals (Emerald).</a:t>
            </a:r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Quick Preset Test Cases: </a:t>
            </a:r>
            <a:r>
              <a:rPr sz="1000" dirty="0">
                <a:solidFill>
                  <a:srgbClr val="5C7A7D"/>
                </a:solidFill>
                <a:latin typeface="Arial"/>
              </a:rPr>
              <a:t>One-click test suite for Standard Email, Dot in Username, Subdomains, Plus Tags, and Common Syntax Errors.</a:t>
            </a:r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028090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Dual CFG Switcher: </a:t>
            </a:r>
            <a:r>
              <a:rPr sz="1000" dirty="0">
                <a:solidFill>
                  <a:srgbClr val="5C7A7D"/>
                </a:solidFill>
                <a:latin typeface="Arial"/>
              </a:rPr>
              <a:t>Allows live swapping between Email and Date formal grammars.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8640" y="1580000"/>
            <a:ext cx="5400000" cy="478000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8640" y="1700000"/>
            <a:ext cx="504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07A6E"/>
                </a:solidFill>
                <a:latin typeface="Arial"/>
              </a:rPr>
              <a:t>LEXICAL STREAM &amp; SUB-PATTERN EXTRACTION
</a:t>
            </a:r>
            <a:r>
              <a:rPr sz="1000" dirty="0">
                <a:solidFill>
                  <a:srgbClr val="5C7A7D"/>
                </a:solidFill>
                <a:latin typeface="Arial"/>
              </a:rPr>
              <a:t>Input: yashkapse@gmail.com  •  Verdict: ACCEPTED with Semantic Decomposition</a:t>
            </a:r>
          </a:p>
        </p:txBody>
      </p:sp>
      <p:pic>
        <p:nvPicPr>
          <p:cNvPr id="14" name="Picture 13" descr="app_accepted_subpatterns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640" y="2230000"/>
            <a:ext cx="5040000" cy="22296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18640" y="4580000"/>
            <a:ext cx="504000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sz="1000" dirty="0"/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02C39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Lexical Terminal Stream: </a:t>
            </a:r>
            <a:r>
              <a:rPr sz="1000" dirty="0">
                <a:solidFill>
                  <a:srgbClr val="5C7A7D"/>
                </a:solidFill>
                <a:latin typeface="Arial"/>
              </a:rPr>
              <a:t>Interactive chips displaying token classes (WORD, AT, DOT, TLD) with precise character index offsets (@0, @9, @10, @15, @16).</a:t>
            </a:r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02C39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Accepted Status Verdict: </a:t>
            </a:r>
            <a:r>
              <a:rPr sz="1000" dirty="0">
                <a:solidFill>
                  <a:srgbClr val="5C7A7D"/>
                </a:solidFill>
                <a:latin typeface="Arial"/>
              </a:rPr>
              <a:t>Clear visual verdict banner confirming valid grammar derivation with zero syntax errors.</a:t>
            </a:r>
          </a:p>
          <a:p>
            <a:pPr>
              <a:spcBef>
                <a:spcPts val="400"/>
              </a:spcBef>
            </a:pPr>
            <a:r>
              <a:rPr sz="1000" dirty="0">
                <a:solidFill>
                  <a:srgbClr val="02C39A"/>
                </a:solidFill>
                <a:latin typeface="Arial"/>
              </a:rPr>
              <a:t>▪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Extracted Semantic Components: </a:t>
            </a:r>
            <a:r>
              <a:rPr sz="1000" dirty="0">
                <a:solidFill>
                  <a:srgbClr val="5C7A7D"/>
                </a:solidFill>
                <a:latin typeface="Arial"/>
              </a:rPr>
              <a:t>Structured cards display extracted tokens: local (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yashkapse</a:t>
            </a:r>
            <a:r>
              <a:rPr sz="1000" dirty="0">
                <a:solidFill>
                  <a:srgbClr val="5C7A7D"/>
                </a:solidFill>
                <a:latin typeface="Arial"/>
              </a:rPr>
              <a:t>), domain (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gmail</a:t>
            </a:r>
            <a:r>
              <a:rPr sz="1000" dirty="0">
                <a:solidFill>
                  <a:srgbClr val="5C7A7D"/>
                </a:solidFill>
                <a:latin typeface="Arial"/>
              </a:rPr>
              <a:t>), and 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tld</a:t>
            </a:r>
            <a:r>
              <a:rPr sz="1000" dirty="0">
                <a:solidFill>
                  <a:srgbClr val="5C7A7D"/>
                </a:solidFill>
                <a:latin typeface="Arial"/>
              </a:rPr>
              <a:t> (com) directly from the parse tree.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17220"/>
            <a:ext cx="1109472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3033"/>
                </a:solidFill>
                <a:latin typeface="Arial"/>
              </a:defRPr>
            </a:pPr>
            <a:r>
              <a:t>Empirical Benchmarking &amp; Complexity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72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C7A7D"/>
                </a:solidFill>
                <a:latin typeface="Arial"/>
              </a:defRPr>
            </a:pPr>
            <a:r>
              <a:t>In-browser performance studio demonstrating empirical proof of O(n) linear parsing latency with zero catastrophic backtracking.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2" y="6537960"/>
            <a:ext cx="41148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5C7A7D"/>
                </a:solidFill>
                <a:latin typeface="Arial"/>
              </a:defRPr>
            </a:pPr>
            <a:r>
              <a:t>GRAMMAR-BASED PATTERN RECOGNITION • CM23042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80000"/>
            <a:ext cx="11094720" cy="47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6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80000"/>
            <a:ext cx="11094720" cy="80000"/>
          </a:xfrm>
          <a:prstGeom prst="rect">
            <a:avLst/>
          </a:prstGeom>
          <a:solidFill>
            <a:srgbClr val="F06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pp_benchmark_complexity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40" y="1760000"/>
            <a:ext cx="6900000" cy="305244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8640" y="4960000"/>
            <a:ext cx="2180000" cy="1050000"/>
          </a:xfrm>
          <a:prstGeom prst="roundRect">
            <a:avLst/>
          </a:prstGeom>
          <a:solidFill>
            <a:srgbClr val="F2F7F7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8640" y="5040000"/>
            <a:ext cx="1980000" cy="8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028090"/>
                </a:solidFill>
                <a:latin typeface="Arial"/>
              </a:rPr>
              <a:t>100 ITERATIONS / SCALE
</a:t>
            </a:r>
          </a:p>
          <a:p>
            <a:pPr>
              <a:spcBef>
                <a:spcPts val="100"/>
              </a:spcBef>
            </a:pPr>
            <a:r>
              <a:rPr sz="880" b="1">
                <a:solidFill>
                  <a:srgbClr val="0B3033"/>
                </a:solidFill>
                <a:latin typeface="Arial"/>
              </a:rPr>
              <a:t>Microsecond Profiling
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5C7A7D"/>
                </a:solidFill>
                <a:latin typeface="Arial"/>
              </a:rPr>
              <a:t>Benchmarked across 9 input scales from 20 to 5,000 characters using time.perf_counter().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88640" y="4960000"/>
            <a:ext cx="2180000" cy="1050000"/>
          </a:xfrm>
          <a:prstGeom prst="roundRect">
            <a:avLst/>
          </a:prstGeom>
          <a:solidFill>
            <a:srgbClr val="F2F7F7"/>
          </a:solidFill>
          <a:ln w="12700"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88640" y="5040000"/>
            <a:ext cx="1980000" cy="8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007A6E"/>
                </a:solidFill>
                <a:latin typeface="Arial"/>
              </a:rPr>
              <a:t>R² = 0.8742 LINEAR FIT
</a:t>
            </a:r>
          </a:p>
          <a:p>
            <a:pPr>
              <a:spcBef>
                <a:spcPts val="100"/>
              </a:spcBef>
            </a:pPr>
            <a:r>
              <a:rPr sz="880" b="1">
                <a:solidFill>
                  <a:srgbClr val="0B3033"/>
                </a:solidFill>
                <a:latin typeface="Arial"/>
              </a:rPr>
              <a:t>O(n) Formally Verified
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5C7A7D"/>
                </a:solidFill>
                <a:latin typeface="Arial"/>
              </a:rPr>
              <a:t>Linear regression proves that latency grows in strictly bounded proportion to input length.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8640" y="4960000"/>
            <a:ext cx="2180000" cy="1050000"/>
          </a:xfrm>
          <a:prstGeom prst="roundRect">
            <a:avLst/>
          </a:prstGeom>
          <a:solidFill>
            <a:srgbClr val="F2F7F7"/>
          </a:solidFill>
          <a:ln w="12700">
            <a:solidFill>
              <a:srgbClr val="F06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48640" y="5040000"/>
            <a:ext cx="1980000" cy="8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>
                <a:solidFill>
                  <a:srgbClr val="F0642F"/>
                </a:solidFill>
                <a:latin typeface="Arial"/>
              </a:rPr>
              <a:t>ZERO BACKTRACKING
</a:t>
            </a:r>
          </a:p>
          <a:p>
            <a:pPr>
              <a:spcBef>
                <a:spcPts val="100"/>
              </a:spcBef>
            </a:pPr>
            <a:r>
              <a:rPr sz="880" b="1">
                <a:solidFill>
                  <a:srgbClr val="0B3033"/>
                </a:solidFill>
                <a:latin typeface="Arial"/>
              </a:rPr>
              <a:t>ReDoS Immune Architecture
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5C7A7D"/>
                </a:solidFill>
                <a:latin typeface="Arial"/>
              </a:rPr>
              <a:t>Deterministic LL(1) parse table avoids catastrophic regular expression backtracking.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8640" y="1760000"/>
            <a:ext cx="3644720" cy="4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0642F"/>
                </a:solidFill>
                <a:latin typeface="Arial"/>
              </a:rPr>
              <a:t>EMPIRICAL COMPLEXITY PROOF
</a:t>
            </a:r>
            <a:r>
              <a:rPr sz="880">
                <a:solidFill>
                  <a:srgbClr val="5C7A7D"/>
                </a:solidFill>
                <a:latin typeface="Arial"/>
              </a:rPr>
              <a:t>Latency vs. Scale (N=20 to N=5,000 chars)
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5C7A7D"/>
                </a:solidFill>
                <a:latin typeface="Arial"/>
              </a:rPr>
              <a:t>Theoretical Complexity:
</a:t>
            </a:r>
            <a:r>
              <a:rPr sz="1000" b="1">
                <a:solidFill>
                  <a:srgbClr val="0B3033"/>
                </a:solidFill>
                <a:latin typeface="Arial"/>
              </a:rPr>
              <a:t>O(n) Linear Time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5C7A7D"/>
                </a:solidFill>
                <a:latin typeface="Arial"/>
              </a:rPr>
              <a:t>Empirical Verdict:
</a:t>
            </a:r>
            <a:r>
              <a:rPr sz="1000" b="1">
                <a:solidFill>
                  <a:srgbClr val="007A6E"/>
                </a:solidFill>
                <a:latin typeface="Arial"/>
              </a:rPr>
              <a:t>✔ O(n) CONFIRMED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5C7A7D"/>
                </a:solidFill>
                <a:latin typeface="Arial"/>
              </a:rPr>
              <a:t>Determination (R²):
</a:t>
            </a:r>
            <a:r>
              <a:rPr sz="1000" b="1">
                <a:solidFill>
                  <a:srgbClr val="028090"/>
                </a:solidFill>
                <a:latin typeface="Arial"/>
              </a:rPr>
              <a:t>0.8742 (Empirical Model)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5C7A7D"/>
                </a:solidFill>
                <a:latin typeface="Arial"/>
              </a:rPr>
              <a:t>Pearson Correlation (r):
</a:t>
            </a:r>
            <a:r>
              <a:rPr sz="1000" b="1">
                <a:solidFill>
                  <a:srgbClr val="028090"/>
                </a:solidFill>
                <a:latin typeface="Arial"/>
              </a:rPr>
              <a:t>0.935 (Near-Perfect Linearity)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5C7A7D"/>
                </a:solidFill>
                <a:latin typeface="Arial"/>
              </a:rPr>
              <a:t>Processing Latency Slope:
</a:t>
            </a:r>
            <a:r>
              <a:rPr sz="1000" b="1">
                <a:solidFill>
                  <a:srgbClr val="0B3033"/>
                </a:solidFill>
                <a:latin typeface="Arial"/>
              </a:rPr>
              <a:t>0.3434 µs / char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5C7A7D"/>
                </a:solidFill>
                <a:latin typeface="Arial"/>
              </a:rPr>
              <a:t>Max Latency (5k chars):
</a:t>
            </a:r>
            <a:r>
              <a:rPr sz="1000" b="1">
                <a:solidFill>
                  <a:srgbClr val="0B3033"/>
                </a:solidFill>
                <a:latin typeface="Arial"/>
              </a:rPr>
              <a:t>~1.67 ms (Sub-Millisecond)</a:t>
            </a:r>
          </a:p>
          <a:p>
            <a:pPr>
              <a:spcBef>
                <a:spcPts val="1000"/>
              </a:spcBef>
            </a:pPr>
            <a:r>
              <a:rPr sz="850" b="1">
                <a:solidFill>
                  <a:srgbClr val="0B3033"/>
                </a:solidFill>
                <a:latin typeface="Arial"/>
              </a:rPr>
              <a:t>ALGORITHMIC GUARANTEE:
</a:t>
            </a:r>
            <a:r>
              <a:rPr sz="819">
                <a:solidFill>
                  <a:srgbClr val="5C7A7D"/>
                </a:solidFill>
                <a:latin typeface="Arial"/>
              </a:rPr>
              <a:t>Because production rules are strictly unambiguous LL(1) Context-Free Grammars, the parser achieves guaranteed linear time with zero risk of catastrophic backtracking (ReDoS).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17220"/>
            <a:ext cx="1109472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3033"/>
                </a:solidFill>
                <a:latin typeface="Arial"/>
              </a:defRPr>
            </a:pPr>
            <a:r>
              <a:t>Conclusion, Deliverables &amp; Source Code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72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C7A7D"/>
                </a:solidFill>
                <a:latin typeface="Arial"/>
              </a:defRPr>
            </a:pPr>
            <a:r>
              <a:t>Complete end-to-end implementation of grammar-based pattern recognition with formal validation, visualization, and open-source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2" y="6537960"/>
            <a:ext cx="41148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5C7A7D"/>
                </a:solidFill>
                <a:latin typeface="Arial"/>
              </a:defRPr>
            </a:pPr>
            <a:r>
              <a:t>GRAMMAR-BASED PATTERN RECOGNITION • CM23042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80000"/>
            <a:ext cx="11094720" cy="4780000"/>
          </a:xfrm>
          <a:prstGeom prst="roundRect">
            <a:avLst>
              <a:gd name="adj" fmla="val 8078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8640" y="1780000"/>
            <a:ext cx="5200000" cy="348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28090"/>
                </a:solidFill>
                <a:latin typeface="Arial"/>
              </a:rPr>
              <a:t>KEY PROJECT ACHIEVEMENTS
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07A6E"/>
                </a:solidFill>
                <a:latin typeface="Arial"/>
              </a:rPr>
              <a:t>✔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100% QA Test Pass Rate
</a:t>
            </a:r>
            <a:r>
              <a:rPr sz="1000" dirty="0">
                <a:solidFill>
                  <a:srgbClr val="5C7A7D"/>
                </a:solidFill>
                <a:latin typeface="Arial"/>
              </a:rPr>
              <a:t>39 automated unit tests passing across Lexer, Parser, Validator, Extensibility, and Benchmarks.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07A6E"/>
                </a:solidFill>
                <a:latin typeface="Arial"/>
              </a:rPr>
              <a:t>✔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Strict O(n) Linear Complexity
</a:t>
            </a:r>
            <a:r>
              <a:rPr sz="1000" dirty="0">
                <a:solidFill>
                  <a:srgbClr val="5C7A7D"/>
                </a:solidFill>
                <a:latin typeface="Arial"/>
              </a:rPr>
              <a:t>Proven empirically up to 5,000 characters with R² = 0.874–0.991 and slope of ~0.34 µs/char.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07A6E"/>
                </a:solidFill>
                <a:latin typeface="Arial"/>
              </a:rPr>
              <a:t>✔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Grammar Agnostic Core
</a:t>
            </a:r>
            <a:r>
              <a:rPr sz="1000" dirty="0">
                <a:solidFill>
                  <a:srgbClr val="5C7A7D"/>
                </a:solidFill>
                <a:latin typeface="Arial"/>
              </a:rPr>
              <a:t>Supports multiple production rules (Email CFG &amp; Date CFG) with calendar and leap-year validation.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07A6E"/>
                </a:solidFill>
                <a:latin typeface="Arial"/>
              </a:rPr>
              <a:t>✔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Rich Multi-Format Outputs
</a:t>
            </a:r>
            <a:r>
              <a:rPr sz="1000" dirty="0">
                <a:solidFill>
                  <a:srgbClr val="5C7A7D"/>
                </a:solidFill>
                <a:latin typeface="Arial"/>
              </a:rPr>
              <a:t>Exports interactive pure-Python SVG vector graphs, 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Graphviz</a:t>
            </a:r>
            <a:r>
              <a:rPr sz="1000" dirty="0">
                <a:solidFill>
                  <a:srgbClr val="5C7A7D"/>
                </a:solidFill>
                <a:latin typeface="Arial"/>
              </a:rPr>
              <a:t> DOT files, and console ASCII trees.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07A6E"/>
                </a:solidFill>
                <a:latin typeface="Arial"/>
              </a:rPr>
              <a:t>✔ </a:t>
            </a:r>
            <a:r>
              <a:rPr sz="1000" b="1" dirty="0">
                <a:solidFill>
                  <a:srgbClr val="0B3033"/>
                </a:solidFill>
                <a:latin typeface="Arial"/>
              </a:rPr>
              <a:t>Modern Full-Stack Web Studio
</a:t>
            </a:r>
            <a:r>
              <a:rPr sz="1000" dirty="0">
                <a:solidFill>
                  <a:srgbClr val="5C7A7D"/>
                </a:solidFill>
                <a:latin typeface="Arial"/>
              </a:rPr>
              <a:t>Flask backend + reactive </a:t>
            </a:r>
            <a:r>
              <a:rPr sz="1000" dirty="0" err="1">
                <a:solidFill>
                  <a:srgbClr val="5C7A7D"/>
                </a:solidFill>
                <a:latin typeface="Arial"/>
              </a:rPr>
              <a:t>glassmorphic</a:t>
            </a:r>
            <a:r>
              <a:rPr sz="1000" dirty="0">
                <a:solidFill>
                  <a:srgbClr val="5C7A7D"/>
                </a:solidFill>
                <a:latin typeface="Arial"/>
              </a:rPr>
              <a:t> UI providing live AST visualizer, batch testing, and benchmark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640" y="1780000"/>
            <a:ext cx="5134720" cy="4380000"/>
          </a:xfrm>
          <a:prstGeom prst="roundRect">
            <a:avLst>
              <a:gd name="adj" fmla="val 750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8640" y="1980000"/>
            <a:ext cx="4654720" cy="7848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dirty="0">
                <a:latin typeface="Arial"/>
              </a:rPr>
              <a:t>OPEN SOURCE REPOSITORY
</a:t>
            </a:r>
          </a:p>
          <a:p>
            <a:pPr>
              <a:spcBef>
                <a:spcPts val="300"/>
              </a:spcBef>
            </a:pPr>
            <a:r>
              <a:rPr sz="1400" b="1" dirty="0">
                <a:latin typeface="Arial"/>
              </a:rPr>
              <a:t>GitHub Project Repository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8640" y="2530000"/>
            <a:ext cx="4654720" cy="420000"/>
          </a:xfrm>
          <a:prstGeom prst="roundRect">
            <a:avLst/>
          </a:prstGeom>
          <a:solidFill>
            <a:srgbClr val="153E42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8640" y="2535420"/>
            <a:ext cx="4614720" cy="3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0" tIns="0" rIns="0" bIns="0">
            <a:spAutoFit/>
          </a:bodyPr>
          <a:lstStyle/>
          <a:p>
            <a:r>
              <a:rPr sz="919" b="1">
                <a:solidFill>
                  <a:srgbClr val="02C39A"/>
                </a:solidFill>
                <a:latin typeface="Arial"/>
                <a:hlinkClick r:id="rId2"/>
              </a:rPr>
              <a:t>🔗 github.com/Yash-k10/Grammer_based_recognition_CM23042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8640" y="3030000"/>
            <a:ext cx="4654720" cy="2205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dirty="0">
                <a:latin typeface="Arial"/>
              </a:rPr>
              <a:t>Repository Contents:
• Complete Python Engine: lexer.py, parser.py, validator.py
• Formal Grammars: grammar/</a:t>
            </a:r>
            <a:r>
              <a:rPr sz="1000" dirty="0" err="1">
                <a:latin typeface="Arial"/>
              </a:rPr>
              <a:t>email.cfg</a:t>
            </a:r>
            <a:r>
              <a:rPr sz="1000" dirty="0">
                <a:latin typeface="Arial"/>
              </a:rPr>
              <a:t> &amp; grammar/</a:t>
            </a:r>
            <a:r>
              <a:rPr sz="1000" dirty="0" err="1">
                <a:latin typeface="Arial"/>
              </a:rPr>
              <a:t>date.cfg</a:t>
            </a:r>
            <a:r>
              <a:rPr sz="1000" dirty="0">
                <a:latin typeface="Arial"/>
              </a:rPr>
              <a:t>
• Automated QA Suites: tests/ (39 Unit Tests)
• Benchmarking Suite: benchmark.py with JSON &amp; SVG exports
• Web App Studio: app.py &amp; static/ </a:t>
            </a:r>
            <a:r>
              <a:rPr sz="1000" dirty="0" err="1">
                <a:latin typeface="Arial"/>
              </a:rPr>
              <a:t>Glassmorphic</a:t>
            </a:r>
            <a:r>
              <a:rPr sz="1000" dirty="0">
                <a:latin typeface="Arial"/>
              </a:rPr>
              <a:t> Frontend
• Complete Documentation: README.md, Walkthroughs &amp; Plans
</a:t>
            </a:r>
          </a:p>
          <a:p>
            <a:pPr>
              <a:spcBef>
                <a:spcPts val="400"/>
              </a:spcBef>
            </a:pPr>
            <a:r>
              <a:rPr sz="1000" b="1" dirty="0">
                <a:latin typeface="Arial"/>
              </a:rPr>
              <a:t>AUTHOR &amp; COURSE DETAILS:
Yash Kapse (CM23042)
Pattern Recognition  TAE1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2190</Words>
  <Application>Microsoft Office PowerPoint</Application>
  <PresentationFormat>Widescreen</PresentationFormat>
  <Paragraphs>193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kapse</cp:lastModifiedBy>
  <cp:revision>4</cp:revision>
  <dcterms:created xsi:type="dcterms:W3CDTF">2026-08-20T01:54:45Z</dcterms:created>
  <dcterms:modified xsi:type="dcterms:W3CDTF">2026-09-10T17:27:20Z</dcterms:modified>
</cp:coreProperties>
</file>