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7660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118872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Grammar-Based
Pattern </a:t>
            </a:r>
            <a:r>
              <a:rPr lang="en-US" sz="40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3063240"/>
            <a:ext cx="54864" cy="9144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0175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parser that identifies patterns in real-world input by testing it against formal grammar rules — accepting what fits the structure, and extracting what matches.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033"/>
                </a:solidFill>
                <a:latin typeface="Arial" pitchFamily="34" charset="0"/>
                <a:cs typeface="Arial" pitchFamily="34" charset="-120"/>
              </a:rPr>
              <a:t>Yash Kapse (CM23042)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V="1">
            <a:off x="9692640" y="731520"/>
            <a:ext cx="914400" cy="27432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07040" y="731520"/>
            <a:ext cx="640080" cy="73152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9509760" y="1005840"/>
            <a:ext cx="182880" cy="82296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0" y="1828800"/>
            <a:ext cx="822960" cy="18288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32720" y="731520"/>
            <a:ext cx="274320" cy="128016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2011680"/>
            <a:ext cx="548640" cy="64008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66960" y="2651760"/>
            <a:ext cx="914400" cy="45720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2651760"/>
            <a:ext cx="457200" cy="64008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47120" y="1463040"/>
            <a:ext cx="91440" cy="1828800"/>
          </a:xfrm>
          <a:prstGeom prst="line">
            <a:avLst/>
          </a:prstGeom>
          <a:noFill/>
          <a:ln w="15875">
            <a:solidFill>
              <a:srgbClr val="D7EA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46920" y="96012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61320" y="68580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Shape 17"/>
          <p:cNvSpPr/>
          <p:nvPr/>
        </p:nvSpPr>
        <p:spPr>
          <a:xfrm>
            <a:off x="11201400" y="141732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87000" y="196596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Shape 19"/>
          <p:cNvSpPr/>
          <p:nvPr/>
        </p:nvSpPr>
        <p:spPr>
          <a:xfrm>
            <a:off x="9464040" y="178308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35640" y="260604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Shape 21"/>
          <p:cNvSpPr/>
          <p:nvPr/>
        </p:nvSpPr>
        <p:spPr>
          <a:xfrm>
            <a:off x="9921240" y="306324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92840" y="324612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Understanding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patterns — emails, dates, code syntax, sentences — aren't random strings; they follow structural rules. But plain keyword or regex matching breaks the moment structure gets nested, variable, or context-dependent.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635240" y="4114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0B3033"/>
          </a:solidFill>
          <a:ln/>
        </p:spPr>
      </p:sp>
      <p:sp>
        <p:nvSpPr>
          <p:cNvPr id="6" name="Text 4"/>
          <p:cNvSpPr/>
          <p:nvPr/>
        </p:nvSpPr>
        <p:spPr>
          <a:xfrm>
            <a:off x="7909560" y="566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909560" y="8686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string actually</a:t>
            </a:r>
            <a:endParaRPr lang="en-US" sz="15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pattern?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44200" y="502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9095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9CC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hides in free-form text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340156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587752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2" name="Image 0" descr="/home/claude/icons_white/file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42" y="2667122"/>
            <a:ext cx="408188" cy="4081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4672" y="3291840"/>
            <a:ext cx="28895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formal notion of "valid"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4672" y="3776472"/>
            <a:ext cx="28895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grammar rules, there's no systematic way to accept or reject a pattern.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06240" y="2331720"/>
            <a:ext cx="340156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5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62272" y="2587752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7" name="Image 1" descr="/home/claude/icons_white/fil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642" y="2667122"/>
            <a:ext cx="408188" cy="40818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62272" y="3291840"/>
            <a:ext cx="28895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matching breaks on nesting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462272" y="3776472"/>
            <a:ext cx="28895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and keyword search can't handle recursive or variable-depth structure.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863840" y="2331720"/>
            <a:ext cx="340156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5E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119872" y="2587752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2" name="Image 2" descr="/home/claude/icons_white/ques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9242" y="2667122"/>
            <a:ext cx="408188" cy="4081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119872" y="3291840"/>
            <a:ext cx="28895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patterns follow implicit rules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119872" y="3776472"/>
            <a:ext cx="28895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patterns follow implicit rules that raw strings don't expose.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548640" y="4709160"/>
            <a:ext cx="11109960" cy="594360"/>
          </a:xfrm>
          <a:prstGeom prst="roundRect">
            <a:avLst>
              <a:gd name="adj" fmla="val 15385"/>
            </a:avLst>
          </a:prstGeom>
          <a:solidFill>
            <a:srgbClr val="D7EAEA"/>
          </a:solidFill>
          <a:ln/>
        </p:spPr>
      </p:sp>
      <p:sp>
        <p:nvSpPr>
          <p:cNvPr id="26" name="Text 21"/>
          <p:cNvSpPr/>
          <p:nvPr/>
        </p:nvSpPr>
        <p:spPr>
          <a:xfrm>
            <a:off x="822960" y="470916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 </a:t>
            </a:r>
            <a:r>
              <a:rPr lang="en-US" sz="1100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formal grammar rules so a parser can systematically accept, reject, and extract patterns — not just guess.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7616952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GRAMMAR-BASED PATTERN RECOGNITION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&amp; Parser 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52728" y="1600200"/>
            <a:ext cx="777240" cy="7772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5" name="Image 0" descr="/home/claude/icons_white/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542" y="1709014"/>
            <a:ext cx="559613" cy="5596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527048"/>
            <a:ext cx="292608" cy="292608"/>
          </a:xfrm>
          <a:prstGeom prst="ellipse">
            <a:avLst/>
          </a:prstGeom>
          <a:solidFill>
            <a:srgbClr val="0B303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048256" y="1988820"/>
            <a:ext cx="1371600" cy="0"/>
          </a:xfrm>
          <a:prstGeom prst="line">
            <a:avLst/>
          </a:prstGeom>
          <a:noFill/>
          <a:ln w="19050">
            <a:solidFill>
              <a:srgbClr val="D8E5E5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48640" y="251460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Grammar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03580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production rules (CFG / BNF) for the target pattern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38144" y="160020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/home/claude/icons_white/sciss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6958" y="1709014"/>
            <a:ext cx="559613" cy="55961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22776" y="1527048"/>
            <a:ext cx="292608" cy="292608"/>
          </a:xfrm>
          <a:prstGeom prst="ellipse">
            <a:avLst/>
          </a:prstGeom>
          <a:solidFill>
            <a:srgbClr val="0B303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233672" y="1988820"/>
            <a:ext cx="1371600" cy="0"/>
          </a:xfrm>
          <a:prstGeom prst="line">
            <a:avLst/>
          </a:prstGeom>
          <a:noFill/>
          <a:ln w="19050">
            <a:solidFill>
              <a:srgbClr val="D8E5E5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2734056" y="251460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Tokenize Input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734056" y="303580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text split into terminal symbols the grammar understands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23560" y="1600200"/>
            <a:ext cx="777240" cy="7772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7" name="Image 2" descr="/home/claude/icons_white/site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2374" y="1709014"/>
            <a:ext cx="559613" cy="55961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08192" y="1527048"/>
            <a:ext cx="292608" cy="292608"/>
          </a:xfrm>
          <a:prstGeom prst="ellipse">
            <a:avLst/>
          </a:prstGeom>
          <a:solidFill>
            <a:srgbClr val="0B303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19088" y="1988820"/>
            <a:ext cx="1371600" cy="0"/>
          </a:xfrm>
          <a:prstGeom prst="line">
            <a:avLst/>
          </a:prstGeom>
          <a:noFill/>
          <a:ln w="19050">
            <a:solidFill>
              <a:srgbClr val="D8E5E5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4919472" y="251460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&amp; Derive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919472" y="303580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 attempts a derivation using the grammar rules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808976" y="160020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3" name="Image 3" descr="/home/claude/icons_white/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7790" y="1709014"/>
            <a:ext cx="559613" cy="55961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293608" y="1527048"/>
            <a:ext cx="292608" cy="292608"/>
          </a:xfrm>
          <a:prstGeom prst="ellipse">
            <a:avLst/>
          </a:prstGeom>
          <a:solidFill>
            <a:srgbClr val="0B303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8604504" y="1988820"/>
            <a:ext cx="1371600" cy="0"/>
          </a:xfrm>
          <a:prstGeom prst="line">
            <a:avLst/>
          </a:prstGeom>
          <a:noFill/>
          <a:ln w="19050">
            <a:solidFill>
              <a:srgbClr val="D8E5E5"/>
            </a:solidFill>
            <a:prstDash val="dash"/>
          </a:ln>
        </p:spPr>
      </p:sp>
      <p:sp>
        <p:nvSpPr>
          <p:cNvPr id="26" name="Text 20"/>
          <p:cNvSpPr/>
          <p:nvPr/>
        </p:nvSpPr>
        <p:spPr>
          <a:xfrm>
            <a:off x="7104888" y="251460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/ Reject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104888" y="303580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accepted if a valid derivation exists, else rejected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994392" y="1600200"/>
            <a:ext cx="777240" cy="7772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9" name="Image 4" descr="/home/claude/icons_white/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3206" y="1709014"/>
            <a:ext cx="559613" cy="55961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479024" y="1527048"/>
            <a:ext cx="292608" cy="292608"/>
          </a:xfrm>
          <a:prstGeom prst="ellipse">
            <a:avLst/>
          </a:prstGeom>
          <a:solidFill>
            <a:srgbClr val="0B303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9290304" y="251460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Parse Tree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9290304" y="303580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structure returned with matched sub-patterns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48640" y="4709160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0B3033"/>
          </a:solidFill>
          <a:ln/>
        </p:spPr>
      </p:sp>
      <p:sp>
        <p:nvSpPr>
          <p:cNvPr id="34" name="Shape 27"/>
          <p:cNvSpPr/>
          <p:nvPr/>
        </p:nvSpPr>
        <p:spPr>
          <a:xfrm>
            <a:off x="777240" y="4864608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5" name="Image 5" descr="/home/claude/icons_white/bran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649" y="4935017"/>
            <a:ext cx="362102" cy="36210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463040" y="470916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logic:  </a:t>
            </a:r>
            <a:r>
              <a:rPr lang="en-US" sz="1100" dirty="0">
                <a:solidFill>
                  <a:srgbClr val="D7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 rules are recursive by nature, so the parser naturally handles nested and variable-length patterns — something flat regex matching can never fully capture.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7616952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GRAMMAR-BASED PATTERN RECOGNITION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STEPS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810512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CFG production rules for the target pattern class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Tokenize raw input into terminal symbols (lexer)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45536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455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3127248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recursive-descent / LL(1) parser from the grammar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0390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03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785616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Attempt derivation — accept input if grammar rules are satisfied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462272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4622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443984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parse tree and extract matched sub-patterns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35240" y="1417320"/>
            <a:ext cx="4023360" cy="4892040"/>
          </a:xfrm>
          <a:prstGeom prst="roundRect">
            <a:avLst>
              <a:gd name="adj" fmla="val 2273"/>
            </a:avLst>
          </a:prstGeom>
          <a:solidFill>
            <a:srgbClr val="0B3033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1645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09560" y="2103120"/>
            <a:ext cx="457200" cy="457200"/>
          </a:xfrm>
          <a:prstGeom prst="ellipse">
            <a:avLst/>
          </a:prstGeom>
          <a:solidFill>
            <a:srgbClr val="17383B"/>
          </a:solidFill>
          <a:ln/>
        </p:spPr>
      </p:sp>
      <p:pic>
        <p:nvPicPr>
          <p:cNvPr id="23" name="Image 0" descr="/home/claude/icons_white/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2167128"/>
            <a:ext cx="329184" cy="32918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549640" y="207568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549640" y="2322576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C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language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909560" y="2852928"/>
            <a:ext cx="457200" cy="457200"/>
          </a:xfrm>
          <a:prstGeom prst="ellipse">
            <a:avLst/>
          </a:prstGeom>
          <a:solidFill>
            <a:srgbClr val="17383B"/>
          </a:solidFill>
          <a:ln/>
        </p:spPr>
      </p:sp>
      <p:pic>
        <p:nvPicPr>
          <p:cNvPr id="27" name="Image 1" descr="/home/claude/icons_white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2916936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8549640" y="282549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PLY / ANTLR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8549640" y="3072384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C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 generator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7909560" y="3602736"/>
            <a:ext cx="457200" cy="457200"/>
          </a:xfrm>
          <a:prstGeom prst="ellipse">
            <a:avLst/>
          </a:prstGeom>
          <a:solidFill>
            <a:srgbClr val="17383B"/>
          </a:solidFill>
          <a:ln/>
        </p:spPr>
      </p:sp>
      <p:pic>
        <p:nvPicPr>
          <p:cNvPr id="31" name="Image 2" descr="/home/claude/icons_white/list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366674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8549640" y="357530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module</a:t>
            </a:r>
            <a:endParaRPr lang="en-US" sz="1250" dirty="0"/>
          </a:p>
        </p:txBody>
      </p:sp>
      <p:sp>
        <p:nvSpPr>
          <p:cNvPr id="33" name="Text 28"/>
          <p:cNvSpPr/>
          <p:nvPr/>
        </p:nvSpPr>
        <p:spPr>
          <a:xfrm>
            <a:off x="8549640" y="3822192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C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Lexer / tokenizer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909560" y="4352544"/>
            <a:ext cx="457200" cy="457200"/>
          </a:xfrm>
          <a:prstGeom prst="ellipse">
            <a:avLst/>
          </a:prstGeom>
          <a:solidFill>
            <a:srgbClr val="17383B"/>
          </a:solidFill>
          <a:ln/>
        </p:spPr>
      </p:sp>
      <p:pic>
        <p:nvPicPr>
          <p:cNvPr id="35" name="Image 3" descr="/home/claude/icons_white/diagr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3568" y="4416552"/>
            <a:ext cx="329184" cy="32918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549640" y="43251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NLTK (CFG)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549640" y="45720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C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Grammar-based parsing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7909560" y="5102352"/>
            <a:ext cx="457200" cy="457200"/>
          </a:xfrm>
          <a:prstGeom prst="ellipse">
            <a:avLst/>
          </a:prstGeom>
          <a:solidFill>
            <a:srgbClr val="17383B"/>
          </a:solidFill>
          <a:ln/>
        </p:spPr>
      </p:sp>
      <p:pic>
        <p:nvPicPr>
          <p:cNvPr id="39" name="Image 4" descr="/home/claude/icons_white/site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3568" y="5166360"/>
            <a:ext cx="329184" cy="329184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8549640" y="5074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Graphviz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8549640" y="532180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C2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tree visualization</a:t>
            </a:r>
            <a:endParaRPr lang="en-US" sz="950" dirty="0"/>
          </a:p>
        </p:txBody>
      </p:sp>
      <p:sp>
        <p:nvSpPr>
          <p:cNvPr id="43" name="Text 36"/>
          <p:cNvSpPr/>
          <p:nvPr/>
        </p:nvSpPr>
        <p:spPr>
          <a:xfrm>
            <a:off x="7616952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GRAMMAR-BASED PATTERN RECOGNITION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Matching in Action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3093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PARSE TREE   (ILLUSTRATIVE)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063240" y="205740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0B3033"/>
          </a:solidFill>
          <a:ln/>
        </p:spPr>
      </p:sp>
      <p:sp>
        <p:nvSpPr>
          <p:cNvPr id="7" name="Text 5"/>
          <p:cNvSpPr/>
          <p:nvPr/>
        </p:nvSpPr>
        <p:spPr>
          <a:xfrm>
            <a:off x="3063240" y="20574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280160" y="28346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3464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283464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8E5E5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28346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2834640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834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11880"/>
            <a:ext cx="1005840" cy="384048"/>
          </a:xfrm>
          <a:prstGeom prst="roundRect">
            <a:avLst>
              <a:gd name="adj" fmla="val 14286"/>
            </a:avLst>
          </a:prstGeom>
          <a:solidFill>
            <a:srgbClr val="D7EAE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61188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920240" y="3611880"/>
            <a:ext cx="914400" cy="384048"/>
          </a:xfrm>
          <a:prstGeom prst="roundRect">
            <a:avLst>
              <a:gd name="adj" fmla="val 14286"/>
            </a:avLst>
          </a:prstGeom>
          <a:solidFill>
            <a:srgbClr val="D7EAEA"/>
          </a:solidFill>
          <a:ln/>
        </p:spPr>
      </p:sp>
      <p:sp>
        <p:nvSpPr>
          <p:cNvPr id="17" name="Text 15"/>
          <p:cNvSpPr/>
          <p:nvPr/>
        </p:nvSpPr>
        <p:spPr>
          <a:xfrm>
            <a:off x="1920240" y="361188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7560" y="361188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7EAEA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36118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361188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7EA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6118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38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.tld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 flipH="1">
            <a:off x="1801368" y="2441448"/>
            <a:ext cx="1901952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320" y="2441448"/>
            <a:ext cx="9144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03320" y="2441448"/>
            <a:ext cx="1600200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325880" y="3218688"/>
            <a:ext cx="475488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01368" y="3218688"/>
            <a:ext cx="576072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03320" y="3218688"/>
            <a:ext cx="45720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0" y="3218688"/>
            <a:ext cx="9144" cy="393192"/>
          </a:xfrm>
          <a:prstGeom prst="line">
            <a:avLst/>
          </a:prstGeom>
          <a:noFill/>
          <a:ln w="19050">
            <a:solidFill>
              <a:srgbClr val="BFDA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2519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</a:t>
            </a:r>
            <a:r>
              <a:rPr lang="en-US" sz="1200" b="1" dirty="0">
                <a:solidFill>
                  <a:srgbClr val="0B3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“yashk@gmail.com"</a:t>
            </a:r>
            <a:r>
              <a:rPr lang="en-US" sz="12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" y="489204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derivation means the parse tree can be built end-to-end — an invalid pattern simply has no tree.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86600" y="1417320"/>
            <a:ext cx="4572000" cy="1234440"/>
          </a:xfrm>
          <a:prstGeom prst="roundRect">
            <a:avLst>
              <a:gd name="adj" fmla="val 7407"/>
            </a:avLst>
          </a:prstGeom>
          <a:solidFill>
            <a:srgbClr val="0B3033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315200" y="213055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D7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patterns correctly accepted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086600" y="2834640"/>
            <a:ext cx="4572000" cy="1234440"/>
          </a:xfrm>
          <a:prstGeom prst="roundRect">
            <a:avLst>
              <a:gd name="adj" fmla="val 7407"/>
            </a:avLst>
          </a:prstGeom>
          <a:solidFill>
            <a:srgbClr val="0B3033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29718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315200" y="354787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D7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 production rules defined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086600" y="4251960"/>
            <a:ext cx="4572000" cy="1234440"/>
          </a:xfrm>
          <a:prstGeom prst="roundRect">
            <a:avLst>
              <a:gd name="adj" fmla="val 7407"/>
            </a:avLst>
          </a:prstGeom>
          <a:solidFill>
            <a:srgbClr val="0B3033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0" y="43891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O(n)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315200" y="496519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D7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time with LL(1) grammar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616952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5C7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GRAMMAR-BASED PATTERN RECOGNITION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090"/>
                </a:solidFill>
                <a:latin typeface="Arial"/>
              </a:defRPr>
            </a:pPr>
            <a: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B3033"/>
                </a:solidFill>
                <a:latin typeface="Arial"/>
              </a:defRPr>
            </a:pPr>
            <a:r>
              <a:t>Phase-Wise Project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4720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5C7A7D"/>
                </a:solidFill>
                <a:latin typeface="Arial"/>
              </a:defRPr>
            </a:pPr>
            <a:r>
              <a:t>Structured 3-phase progression from formal CFG engine foundations to visual CLI pipelines and benchmarks.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20000"/>
            <a:ext cx="3450000" cy="4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20000"/>
            <a:ext cx="3450000" cy="9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640" y="1820000"/>
            <a:ext cx="3010000" cy="4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028090"/>
                </a:solidFill>
                <a:latin typeface="Arial"/>
              </a:rPr>
              <a:t>PHASE 1  •  Week 1
</a:t>
            </a:r>
            <a:r>
              <a:rPr sz="900" b="1">
                <a:solidFill>
                  <a:srgbClr val="007A6E"/>
                </a:solidFill>
                <a:latin typeface="Arial"/>
              </a:rPr>
              <a:t>[COMPLETED (100%)]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B3033"/>
                </a:solidFill>
                <a:latin typeface="Arial"/>
              </a:rPr>
              <a:t>Core Engine &amp; Foundation
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5C7A7D"/>
                </a:solidFill>
                <a:latin typeface="Arial"/>
              </a:rPr>
              <a:t>Formal grammar specification, lexical tokenizer, and LL(1) parsing core.
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B3033"/>
                </a:solidFill>
                <a:latin typeface="Arial"/>
              </a:rPr>
              <a:t>DELIVERABLES &amp; MODULES:
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28090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grammar/email.cfg: </a:t>
            </a:r>
            <a:r>
              <a:rPr sz="850">
                <a:solidFill>
                  <a:srgbClr val="5C7A7D"/>
                </a:solidFill>
                <a:latin typeface="Arial"/>
              </a:rPr>
              <a:t>CFG production rules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28090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lexer.py: </a:t>
            </a:r>
            <a:r>
              <a:rPr sz="850">
                <a:solidFill>
                  <a:srgbClr val="5C7A7D"/>
                </a:solidFill>
                <a:latin typeface="Arial"/>
              </a:rPr>
              <a:t>Position-aware tokenizer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28090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parser.py: </a:t>
            </a:r>
            <a:r>
              <a:rPr sz="850">
                <a:solidFill>
                  <a:srgbClr val="5C7A7D"/>
                </a:solidFill>
                <a:latin typeface="Arial"/>
              </a:rPr>
              <a:t>Recursive-descent LL(1)</a:t>
            </a:r>
          </a:p>
          <a:p>
            <a:pPr>
              <a:spcBef>
                <a:spcPts val="1400"/>
              </a:spcBef>
            </a:pPr>
            <a:r>
              <a:rPr sz="850">
                <a:solidFill>
                  <a:srgbClr val="5C7A7D"/>
                </a:solidFill>
                <a:latin typeface="Arial"/>
              </a:rPr>
              <a:t>Test Suite Accuracy
</a:t>
            </a:r>
            <a:r>
              <a:rPr sz="1200" b="1">
                <a:solidFill>
                  <a:srgbClr val="028090"/>
                </a:solidFill>
                <a:latin typeface="Arial"/>
              </a:rPr>
              <a:t>10/10 Passed (100%)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40" y="1620000"/>
            <a:ext cx="3450000" cy="4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640" y="1620000"/>
            <a:ext cx="3450000" cy="90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8640" y="1820000"/>
            <a:ext cx="3010000" cy="4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00A896"/>
                </a:solidFill>
                <a:latin typeface="Arial"/>
              </a:rPr>
              <a:t>PHASE 2  •  Weeks 2–3
</a:t>
            </a:r>
            <a:r>
              <a:rPr sz="900" b="1">
                <a:solidFill>
                  <a:srgbClr val="007A6E"/>
                </a:solidFill>
                <a:latin typeface="Arial"/>
              </a:rPr>
              <a:t>[COMPLETED (100%)]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B3033"/>
                </a:solidFill>
                <a:latin typeface="Arial"/>
              </a:rPr>
              <a:t>Validation &amp; CLI Pipeline
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5C7A7D"/>
                </a:solidFill>
                <a:latin typeface="Arial"/>
              </a:rPr>
              <a:t>Verdict engine, structured diagnostics, and multi-format visual tree rendering.
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B3033"/>
                </a:solidFill>
                <a:latin typeface="Arial"/>
              </a:rPr>
              <a:t>DELIVERABLES &amp; MODULES:
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0A896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validator.py: </a:t>
            </a:r>
            <a:r>
              <a:rPr sz="850">
                <a:solidFill>
                  <a:srgbClr val="5C7A7D"/>
                </a:solidFill>
                <a:latin typeface="Arial"/>
              </a:rPr>
              <a:t>ACCEPT/REJECT verdict &amp; CLI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0A896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visualize.py: </a:t>
            </a:r>
            <a:r>
              <a:rPr sz="850">
                <a:solidFill>
                  <a:srgbClr val="5C7A7D"/>
                </a:solidFill>
                <a:latin typeface="Arial"/>
              </a:rPr>
              <a:t>SVG, DOT &amp; ASCII trees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0A896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CLI Pipeline: </a:t>
            </a:r>
            <a:r>
              <a:rPr sz="850">
                <a:solidFill>
                  <a:srgbClr val="5C7A7D"/>
                </a:solidFill>
                <a:latin typeface="Arial"/>
              </a:rPr>
              <a:t>Single, batch &amp; REPL mode</a:t>
            </a:r>
          </a:p>
          <a:p>
            <a:pPr>
              <a:spcBef>
                <a:spcPts val="1400"/>
              </a:spcBef>
            </a:pPr>
            <a:r>
              <a:rPr sz="850">
                <a:solidFill>
                  <a:srgbClr val="5C7A7D"/>
                </a:solidFill>
                <a:latin typeface="Arial"/>
              </a:rPr>
              <a:t>Test Suite Accuracy
</a:t>
            </a:r>
            <a:r>
              <a:rPr sz="1200" b="1">
                <a:solidFill>
                  <a:srgbClr val="00A896"/>
                </a:solidFill>
                <a:latin typeface="Arial"/>
              </a:rPr>
              <a:t>19/19 Passed (100%)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640" y="1620000"/>
            <a:ext cx="3450000" cy="4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8640" y="1620000"/>
            <a:ext cx="3450000" cy="90000"/>
          </a:xfrm>
          <a:prstGeom prst="rect">
            <a:avLst/>
          </a:prstGeom>
          <a:solidFill>
            <a:srgbClr val="3B6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8640" y="1820000"/>
            <a:ext cx="3010000" cy="4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3B6E72"/>
                </a:solidFill>
                <a:latin typeface="Arial"/>
              </a:rPr>
              <a:t>PHASE 3  •  Week 4
</a:t>
            </a:r>
            <a:r>
              <a:rPr sz="900" b="1">
                <a:solidFill>
                  <a:srgbClr val="007A6E"/>
                </a:solidFill>
                <a:latin typeface="Arial"/>
              </a:rPr>
              <a:t>[COMPLETED (100%)]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B3033"/>
                </a:solidFill>
                <a:latin typeface="Arial"/>
              </a:rPr>
              <a:t>QA, Benchmarks &amp; Release
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5C7A7D"/>
                </a:solidFill>
                <a:latin typeface="Arial"/>
              </a:rPr>
              <a:t>Performance benchmarking, secondary grammar proof, and final documentation.
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B3033"/>
                </a:solidFill>
                <a:latin typeface="Arial"/>
              </a:rPr>
              <a:t>DELIVERABLES &amp; MODULES:
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3B6E72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benchmark.py: </a:t>
            </a:r>
            <a:r>
              <a:rPr sz="850">
                <a:solidFill>
                  <a:srgbClr val="5C7A7D"/>
                </a:solidFill>
                <a:latin typeface="Arial"/>
              </a:rPr>
              <a:t>O(n) linear latency test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3B6E72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grammar/date.cfg: </a:t>
            </a:r>
            <a:r>
              <a:rPr sz="850">
                <a:solidFill>
                  <a:srgbClr val="5C7A7D"/>
                </a:solidFill>
                <a:latin typeface="Arial"/>
              </a:rPr>
              <a:t>Grammar extensibility demo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3B6E72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tests/ &amp; Docs: </a:t>
            </a:r>
            <a:r>
              <a:rPr sz="850">
                <a:solidFill>
                  <a:srgbClr val="5C7A7D"/>
                </a:solidFill>
                <a:latin typeface="Arial"/>
              </a:rPr>
              <a:t>Full QA suite &amp; report</a:t>
            </a:r>
          </a:p>
          <a:p>
            <a:pPr>
              <a:spcBef>
                <a:spcPts val="1400"/>
              </a:spcBef>
            </a:pPr>
            <a:r>
              <a:rPr sz="850">
                <a:solidFill>
                  <a:srgbClr val="5C7A7D"/>
                </a:solidFill>
                <a:latin typeface="Arial"/>
              </a:rPr>
              <a:t>Accuracy &amp; Complexity
</a:t>
            </a:r>
            <a:r>
              <a:rPr sz="1200" b="1">
                <a:solidFill>
                  <a:srgbClr val="3B6E72"/>
                </a:solidFill>
                <a:latin typeface="Arial"/>
              </a:rPr>
              <a:t>100% Passed • O(n) 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653796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>
                <a:solidFill>
                  <a:srgbClr val="5C7A7D"/>
                </a:solidFill>
                <a:latin typeface="Arial"/>
              </a:defRPr>
            </a:pPr>
            <a:r>
              <a:t>GRAMMAR-BASED PATTERN RECOGNITION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090"/>
                </a:solidFill>
                <a:latin typeface="Arial"/>
              </a:defRPr>
            </a:pPr>
            <a: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B3033"/>
                </a:solidFill>
                <a:latin typeface="Arial"/>
              </a:defRPr>
            </a:pPr>
            <a:r>
              <a:t>Phase-Wise Project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4720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5C7A7D"/>
                </a:solidFill>
                <a:latin typeface="Arial"/>
              </a:defRPr>
            </a:pPr>
            <a:r>
              <a:t>Structured 3-phase progression from formal CFG engine foundations to visual CLI pipelines and benchmarks.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20000"/>
            <a:ext cx="3450000" cy="4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20000"/>
            <a:ext cx="3450000" cy="9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640" y="1820000"/>
            <a:ext cx="3010000" cy="4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028090"/>
                </a:solidFill>
                <a:latin typeface="Arial"/>
              </a:rPr>
              <a:t>PHASE 1  •  Week 1
</a:t>
            </a:r>
            <a:r>
              <a:rPr sz="900" b="1">
                <a:solidFill>
                  <a:srgbClr val="007A6E"/>
                </a:solidFill>
                <a:latin typeface="Arial"/>
              </a:rPr>
              <a:t>[COMPLETED (100%)]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B3033"/>
                </a:solidFill>
                <a:latin typeface="Arial"/>
              </a:rPr>
              <a:t>Core Engine &amp; Foundation
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5C7A7D"/>
                </a:solidFill>
                <a:latin typeface="Arial"/>
              </a:rPr>
              <a:t>Formal grammar specification, lexical tokenizer, and LL(1) parsing core.
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B3033"/>
                </a:solidFill>
                <a:latin typeface="Arial"/>
              </a:rPr>
              <a:t>DELIVERABLES &amp; MODULES:
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28090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grammar/email.cfg: </a:t>
            </a:r>
            <a:r>
              <a:rPr sz="850">
                <a:solidFill>
                  <a:srgbClr val="5C7A7D"/>
                </a:solidFill>
                <a:latin typeface="Arial"/>
              </a:rPr>
              <a:t>CFG production rules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28090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lexer.py: </a:t>
            </a:r>
            <a:r>
              <a:rPr sz="850">
                <a:solidFill>
                  <a:srgbClr val="5C7A7D"/>
                </a:solidFill>
                <a:latin typeface="Arial"/>
              </a:rPr>
              <a:t>Position-aware tokenizer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28090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parser.py: </a:t>
            </a:r>
            <a:r>
              <a:rPr sz="850">
                <a:solidFill>
                  <a:srgbClr val="5C7A7D"/>
                </a:solidFill>
                <a:latin typeface="Arial"/>
              </a:rPr>
              <a:t>Recursive-descent LL(1)</a:t>
            </a:r>
          </a:p>
          <a:p>
            <a:pPr>
              <a:spcBef>
                <a:spcPts val="1400"/>
              </a:spcBef>
            </a:pPr>
            <a:r>
              <a:rPr sz="850">
                <a:solidFill>
                  <a:srgbClr val="5C7A7D"/>
                </a:solidFill>
                <a:latin typeface="Arial"/>
              </a:rPr>
              <a:t>Test Suite Accuracy
</a:t>
            </a:r>
            <a:r>
              <a:rPr sz="1200" b="1">
                <a:solidFill>
                  <a:srgbClr val="028090"/>
                </a:solidFill>
                <a:latin typeface="Arial"/>
              </a:rPr>
              <a:t>10/10 Passed (100%)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40" y="1620000"/>
            <a:ext cx="3450000" cy="4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640" y="1620000"/>
            <a:ext cx="3450000" cy="90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8640" y="1820000"/>
            <a:ext cx="3010000" cy="4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00A896"/>
                </a:solidFill>
                <a:latin typeface="Arial"/>
              </a:rPr>
              <a:t>PHASE 2  •  Weeks 2–3
</a:t>
            </a:r>
            <a:r>
              <a:rPr sz="900" b="1">
                <a:solidFill>
                  <a:srgbClr val="007A6E"/>
                </a:solidFill>
                <a:latin typeface="Arial"/>
              </a:rPr>
              <a:t>[COMPLETED (100%)]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B3033"/>
                </a:solidFill>
                <a:latin typeface="Arial"/>
              </a:rPr>
              <a:t>Validation &amp; CLI Pipeline
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5C7A7D"/>
                </a:solidFill>
                <a:latin typeface="Arial"/>
              </a:rPr>
              <a:t>Verdict engine, structured diagnostics, and multi-format visual tree rendering.
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B3033"/>
                </a:solidFill>
                <a:latin typeface="Arial"/>
              </a:rPr>
              <a:t>DELIVERABLES &amp; MODULES:
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0A896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validator.py: </a:t>
            </a:r>
            <a:r>
              <a:rPr sz="850">
                <a:solidFill>
                  <a:srgbClr val="5C7A7D"/>
                </a:solidFill>
                <a:latin typeface="Arial"/>
              </a:rPr>
              <a:t>ACCEPT/REJECT verdict &amp; CLI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0A896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visualize.py: </a:t>
            </a:r>
            <a:r>
              <a:rPr sz="850">
                <a:solidFill>
                  <a:srgbClr val="5C7A7D"/>
                </a:solidFill>
                <a:latin typeface="Arial"/>
              </a:rPr>
              <a:t>SVG, DOT &amp; ASCII trees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00A896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CLI Pipeline: </a:t>
            </a:r>
            <a:r>
              <a:rPr sz="850">
                <a:solidFill>
                  <a:srgbClr val="5C7A7D"/>
                </a:solidFill>
                <a:latin typeface="Arial"/>
              </a:rPr>
              <a:t>Single, batch &amp; REPL mode</a:t>
            </a:r>
          </a:p>
          <a:p>
            <a:pPr>
              <a:spcBef>
                <a:spcPts val="1400"/>
              </a:spcBef>
            </a:pPr>
            <a:r>
              <a:rPr sz="850">
                <a:solidFill>
                  <a:srgbClr val="5C7A7D"/>
                </a:solidFill>
                <a:latin typeface="Arial"/>
              </a:rPr>
              <a:t>Test Suite Accuracy
</a:t>
            </a:r>
            <a:r>
              <a:rPr sz="1200" b="1">
                <a:solidFill>
                  <a:srgbClr val="00A896"/>
                </a:solidFill>
                <a:latin typeface="Arial"/>
              </a:rPr>
              <a:t>19/19 Passed (100%)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640" y="1620000"/>
            <a:ext cx="3450000" cy="4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8640" y="1620000"/>
            <a:ext cx="3450000" cy="90000"/>
          </a:xfrm>
          <a:prstGeom prst="rect">
            <a:avLst/>
          </a:prstGeom>
          <a:solidFill>
            <a:srgbClr val="3B6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8640" y="1820000"/>
            <a:ext cx="3010000" cy="4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3B6E72"/>
                </a:solidFill>
                <a:latin typeface="Arial"/>
              </a:rPr>
              <a:t>PHASE 3  •  Week 4
</a:t>
            </a:r>
            <a:r>
              <a:rPr sz="900" b="1">
                <a:solidFill>
                  <a:srgbClr val="007A6E"/>
                </a:solidFill>
                <a:latin typeface="Arial"/>
              </a:rPr>
              <a:t>[COMPLETED (100%)]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B3033"/>
                </a:solidFill>
                <a:latin typeface="Arial"/>
              </a:rPr>
              <a:t>QA, Benchmarks &amp; Release
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5C7A7D"/>
                </a:solidFill>
                <a:latin typeface="Arial"/>
              </a:rPr>
              <a:t>Performance benchmarking, secondary grammar proof, and final documentation.
</a:t>
            </a:r>
          </a:p>
          <a:p>
            <a:pPr>
              <a:spcBef>
                <a:spcPts val="800"/>
              </a:spcBef>
            </a:pPr>
            <a:r>
              <a:rPr sz="900" b="1">
                <a:solidFill>
                  <a:srgbClr val="0B3033"/>
                </a:solidFill>
                <a:latin typeface="Arial"/>
              </a:rPr>
              <a:t>DELIVERABLES &amp; MODULES:
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3B6E72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benchmark.py: </a:t>
            </a:r>
            <a:r>
              <a:rPr sz="850">
                <a:solidFill>
                  <a:srgbClr val="5C7A7D"/>
                </a:solidFill>
                <a:latin typeface="Arial"/>
              </a:rPr>
              <a:t>O(n) linear latency test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3B6E72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grammar/date.cfg: </a:t>
            </a:r>
            <a:r>
              <a:rPr sz="850">
                <a:solidFill>
                  <a:srgbClr val="5C7A7D"/>
                </a:solidFill>
                <a:latin typeface="Arial"/>
              </a:rPr>
              <a:t>Grammar extensibility demo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3B6E72"/>
                </a:solidFill>
                <a:latin typeface="Arial"/>
              </a:rPr>
              <a:t>▪ </a:t>
            </a:r>
            <a:r>
              <a:rPr sz="900" b="1">
                <a:solidFill>
                  <a:srgbClr val="0B3033"/>
                </a:solidFill>
                <a:latin typeface="Arial"/>
              </a:rPr>
              <a:t>tests/ &amp; Docs: </a:t>
            </a:r>
            <a:r>
              <a:rPr sz="850">
                <a:solidFill>
                  <a:srgbClr val="5C7A7D"/>
                </a:solidFill>
                <a:latin typeface="Arial"/>
              </a:rPr>
              <a:t>Full QA suite &amp; report</a:t>
            </a:r>
          </a:p>
          <a:p>
            <a:pPr>
              <a:spcBef>
                <a:spcPts val="1400"/>
              </a:spcBef>
            </a:pPr>
            <a:r>
              <a:rPr sz="850">
                <a:solidFill>
                  <a:srgbClr val="5C7A7D"/>
                </a:solidFill>
                <a:latin typeface="Arial"/>
              </a:rPr>
              <a:t>Accuracy &amp; Complexity
</a:t>
            </a:r>
            <a:r>
              <a:rPr sz="1200" b="1">
                <a:solidFill>
                  <a:srgbClr val="3B6E72"/>
                </a:solidFill>
                <a:latin typeface="Arial"/>
              </a:rPr>
              <a:t>100% Passed • O(n) 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653796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>
                <a:solidFill>
                  <a:srgbClr val="5C7A7D"/>
                </a:solidFill>
                <a:latin typeface="Arial"/>
              </a:defRPr>
            </a:pPr>
            <a:r>
              <a:t>GRAMMAR-BASED PATTERN RECOGNITION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747</Words>
  <Application>Microsoft Office PowerPoint</Application>
  <PresentationFormat>Widescreen</PresentationFormat>
  <Paragraphs>126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yash kapse</cp:lastModifiedBy>
  <cp:revision>3</cp:revision>
  <dcterms:created xsi:type="dcterms:W3CDTF">2026-08-20T01:54:45Z</dcterms:created>
  <dcterms:modified xsi:type="dcterms:W3CDTF">2026-08-29T14:23:37Z</dcterms:modified>
</cp:coreProperties>
</file>